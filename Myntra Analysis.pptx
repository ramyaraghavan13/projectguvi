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6" r:id="rId7"/>
    <p:sldId id="258" r:id="rId8"/>
    <p:sldId id="259" r:id="rId9"/>
    <p:sldId id="260" r:id="rId10"/>
    <p:sldId id="273" r:id="rId11"/>
    <p:sldId id="272" r:id="rId12"/>
    <p:sldId id="263" r:id="rId13"/>
    <p:sldId id="274" r:id="rId14"/>
    <p:sldId id="275" r:id="rId15"/>
    <p:sldId id="264" r:id="rId16"/>
    <p:sldId id="265" r:id="rId17"/>
    <p:sldId id="261" r:id="rId18"/>
    <p:sldId id="267" r:id="rId19"/>
    <p:sldId id="268" r:id="rId20"/>
    <p:sldId id="269" r:id="rId21"/>
    <p:sldId id="270" r:id="rId22"/>
    <p:sldId id="271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3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7C0AE-DA13-4342-B7A7-4DBE8A8D0344}" type="doc">
      <dgm:prSet loTypeId="urn:microsoft.com/office/officeart/2005/8/layout/hProcess7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E7DFE7-9A33-4CB1-A4D6-F0CCB86A16DC}">
      <dgm:prSet phldrT="[Text]"/>
      <dgm:spPr/>
      <dgm:t>
        <a:bodyPr/>
        <a:lstStyle/>
        <a:p>
          <a:r>
            <a:rPr lang="en-US" dirty="0" smtClean="0"/>
            <a:t>Segmentation</a:t>
          </a:r>
          <a:endParaRPr lang="en-US" dirty="0"/>
        </a:p>
      </dgm:t>
    </dgm:pt>
    <dgm:pt modelId="{EAD000F8-13F8-4E25-855D-BB50EE3649C1}" type="parTrans" cxnId="{20EEF4D3-ACF5-479F-96B1-730573C4D541}">
      <dgm:prSet/>
      <dgm:spPr/>
      <dgm:t>
        <a:bodyPr/>
        <a:lstStyle/>
        <a:p>
          <a:endParaRPr lang="en-US"/>
        </a:p>
      </dgm:t>
    </dgm:pt>
    <dgm:pt modelId="{1AA27599-F9E9-4219-AB35-0EAADF4686F5}" type="sibTrans" cxnId="{20EEF4D3-ACF5-479F-96B1-730573C4D541}">
      <dgm:prSet/>
      <dgm:spPr/>
      <dgm:t>
        <a:bodyPr/>
        <a:lstStyle/>
        <a:p>
          <a:endParaRPr lang="en-US"/>
        </a:p>
      </dgm:t>
    </dgm:pt>
    <dgm:pt modelId="{1549C801-1756-484A-A7BE-36F4C018BAC0}">
      <dgm:prSet phldrT="[Text]"/>
      <dgm:spPr/>
      <dgm:t>
        <a:bodyPr/>
        <a:lstStyle/>
        <a:p>
          <a:r>
            <a:rPr lang="en-US" dirty="0" smtClean="0"/>
            <a:t>Myntra focuses on Fashion-conscious customers who believe in shopping from home irrespective of age and gender.</a:t>
          </a:r>
          <a:endParaRPr lang="en-US" dirty="0"/>
        </a:p>
      </dgm:t>
    </dgm:pt>
    <dgm:pt modelId="{24495216-C74D-4347-99DE-FB9579ABC52E}" type="parTrans" cxnId="{C2B34C2C-C6A1-4E61-BFEB-1F541CCC8118}">
      <dgm:prSet/>
      <dgm:spPr/>
      <dgm:t>
        <a:bodyPr/>
        <a:lstStyle/>
        <a:p>
          <a:endParaRPr lang="en-US"/>
        </a:p>
      </dgm:t>
    </dgm:pt>
    <dgm:pt modelId="{26A19B95-FE13-49BD-9CCA-DC5BF2B8EEC3}" type="sibTrans" cxnId="{C2B34C2C-C6A1-4E61-BFEB-1F541CCC8118}">
      <dgm:prSet/>
      <dgm:spPr/>
      <dgm:t>
        <a:bodyPr/>
        <a:lstStyle/>
        <a:p>
          <a:endParaRPr lang="en-US"/>
        </a:p>
      </dgm:t>
    </dgm:pt>
    <dgm:pt modelId="{AAF88D45-60BA-4F00-BB55-5C504F748953}">
      <dgm:prSet phldrT="[Text]"/>
      <dgm:spPr/>
      <dgm:t>
        <a:bodyPr/>
        <a:lstStyle/>
        <a:p>
          <a:r>
            <a:rPr lang="en-US" dirty="0" smtClean="0"/>
            <a:t>Target Market </a:t>
          </a:r>
          <a:endParaRPr lang="en-US" dirty="0"/>
        </a:p>
      </dgm:t>
    </dgm:pt>
    <dgm:pt modelId="{4A0FDB9C-11C4-4389-AE8E-CF97BDD05659}" type="parTrans" cxnId="{21F014BC-2073-4BD2-81DD-E2746AEEA64F}">
      <dgm:prSet/>
      <dgm:spPr/>
      <dgm:t>
        <a:bodyPr/>
        <a:lstStyle/>
        <a:p>
          <a:endParaRPr lang="en-US"/>
        </a:p>
      </dgm:t>
    </dgm:pt>
    <dgm:pt modelId="{3AC84C1A-6226-4F20-868F-253D0AF866C6}" type="sibTrans" cxnId="{21F014BC-2073-4BD2-81DD-E2746AEEA64F}">
      <dgm:prSet/>
      <dgm:spPr/>
      <dgm:t>
        <a:bodyPr/>
        <a:lstStyle/>
        <a:p>
          <a:endParaRPr lang="en-US"/>
        </a:p>
      </dgm:t>
    </dgm:pt>
    <dgm:pt modelId="{ADAF49A5-F7DD-46EE-A162-C3CF914C7014}">
      <dgm:prSet phldrT="[Text]"/>
      <dgm:spPr/>
      <dgm:t>
        <a:bodyPr/>
        <a:lstStyle/>
        <a:p>
          <a:r>
            <a:rPr lang="en-US" dirty="0" smtClean="0"/>
            <a:t>The Target Market set by this brand is Fashion conscious ,medium income ,young online shoppers looking for the best deals and good quality products.</a:t>
          </a:r>
          <a:endParaRPr lang="en-US" dirty="0"/>
        </a:p>
      </dgm:t>
    </dgm:pt>
    <dgm:pt modelId="{4D5CF7DD-0E26-4879-8DF2-23440CD429BC}" type="parTrans" cxnId="{84B6C41C-7A11-4838-BCFC-247D0D1076CB}">
      <dgm:prSet/>
      <dgm:spPr/>
      <dgm:t>
        <a:bodyPr/>
        <a:lstStyle/>
        <a:p>
          <a:endParaRPr lang="en-US"/>
        </a:p>
      </dgm:t>
    </dgm:pt>
    <dgm:pt modelId="{08DC5850-B387-4674-BF40-9807A5C0BC61}" type="sibTrans" cxnId="{84B6C41C-7A11-4838-BCFC-247D0D1076CB}">
      <dgm:prSet/>
      <dgm:spPr/>
      <dgm:t>
        <a:bodyPr/>
        <a:lstStyle/>
        <a:p>
          <a:endParaRPr lang="en-US"/>
        </a:p>
      </dgm:t>
    </dgm:pt>
    <dgm:pt modelId="{95CC01BB-02A0-44EC-9827-E8FC8B0DF3AF}">
      <dgm:prSet phldrT="[Text]"/>
      <dgm:spPr/>
      <dgm:t>
        <a:bodyPr/>
        <a:lstStyle/>
        <a:p>
          <a:r>
            <a:rPr lang="en-US" dirty="0" smtClean="0"/>
            <a:t>Positioning</a:t>
          </a:r>
          <a:endParaRPr lang="en-US" dirty="0"/>
        </a:p>
      </dgm:t>
    </dgm:pt>
    <dgm:pt modelId="{EC8559F1-9238-45FC-9CC8-E732099A633A}" type="parTrans" cxnId="{EBCAD552-7F7D-4860-9FF8-77603C61DF3B}">
      <dgm:prSet/>
      <dgm:spPr/>
      <dgm:t>
        <a:bodyPr/>
        <a:lstStyle/>
        <a:p>
          <a:endParaRPr lang="en-US"/>
        </a:p>
      </dgm:t>
    </dgm:pt>
    <dgm:pt modelId="{9AA64C93-3562-48BE-B2D6-600067FD9CD9}" type="sibTrans" cxnId="{EBCAD552-7F7D-4860-9FF8-77603C61DF3B}">
      <dgm:prSet/>
      <dgm:spPr/>
      <dgm:t>
        <a:bodyPr/>
        <a:lstStyle/>
        <a:p>
          <a:endParaRPr lang="en-US"/>
        </a:p>
      </dgm:t>
    </dgm:pt>
    <dgm:pt modelId="{3E488EDC-B400-4AA6-9C1C-60F5E822EB4A}">
      <dgm:prSet phldrT="[Text]"/>
      <dgm:spPr/>
      <dgm:t>
        <a:bodyPr/>
        <a:lstStyle/>
        <a:p>
          <a:r>
            <a:rPr lang="en-US" dirty="0" smtClean="0"/>
            <a:t>Myntra is an e-commerce website that focuses on creating vibrant fashion stores at affordable rates all over India</a:t>
          </a:r>
          <a:endParaRPr lang="en-US" dirty="0"/>
        </a:p>
      </dgm:t>
    </dgm:pt>
    <dgm:pt modelId="{47A8C1C2-7C2C-45C9-BE3A-1AE658A3BF4C}" type="parTrans" cxnId="{B76B8D01-D725-4256-95FA-8F6C7D7E5C66}">
      <dgm:prSet/>
      <dgm:spPr/>
      <dgm:t>
        <a:bodyPr/>
        <a:lstStyle/>
        <a:p>
          <a:endParaRPr lang="en-US"/>
        </a:p>
      </dgm:t>
    </dgm:pt>
    <dgm:pt modelId="{4F3C3CFB-2D61-4AF1-A356-DC84C017C506}" type="sibTrans" cxnId="{B76B8D01-D725-4256-95FA-8F6C7D7E5C66}">
      <dgm:prSet/>
      <dgm:spPr/>
      <dgm:t>
        <a:bodyPr/>
        <a:lstStyle/>
        <a:p>
          <a:endParaRPr lang="en-US"/>
        </a:p>
      </dgm:t>
    </dgm:pt>
    <dgm:pt modelId="{74FEAC12-49B8-44C0-8EF1-CB1B57201279}" type="pres">
      <dgm:prSet presAssocID="{B807C0AE-DA13-4342-B7A7-4DBE8A8D034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393949-1707-45BF-9C85-720F4F885C35}" type="pres">
      <dgm:prSet presAssocID="{19E7DFE7-9A33-4CB1-A4D6-F0CCB86A16DC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CB982-A08A-4AA6-B575-AAB59660BB69}" type="pres">
      <dgm:prSet presAssocID="{19E7DFE7-9A33-4CB1-A4D6-F0CCB86A16DC}" presName="bgRect" presStyleLbl="node1" presStyleIdx="0" presStyleCnt="3"/>
      <dgm:spPr/>
      <dgm:t>
        <a:bodyPr/>
        <a:lstStyle/>
        <a:p>
          <a:endParaRPr lang="en-US"/>
        </a:p>
      </dgm:t>
    </dgm:pt>
    <dgm:pt modelId="{E1EF6476-9AD1-4AA6-8825-81F84AE8BD8E}" type="pres">
      <dgm:prSet presAssocID="{19E7DFE7-9A33-4CB1-A4D6-F0CCB86A16DC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D40048-B5F4-40A1-BC57-5D1D95802710}" type="pres">
      <dgm:prSet presAssocID="{19E7DFE7-9A33-4CB1-A4D6-F0CCB86A16DC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48C07B-DAF6-46BE-BB1A-1DD9224B7DAA}" type="pres">
      <dgm:prSet presAssocID="{1AA27599-F9E9-4219-AB35-0EAADF4686F5}" presName="hSp" presStyleCnt="0"/>
      <dgm:spPr/>
      <dgm:t>
        <a:bodyPr/>
        <a:lstStyle/>
        <a:p>
          <a:endParaRPr lang="en-US"/>
        </a:p>
      </dgm:t>
    </dgm:pt>
    <dgm:pt modelId="{AD6C3EE2-7956-4217-BB91-BDA2EEF690FB}" type="pres">
      <dgm:prSet presAssocID="{1AA27599-F9E9-4219-AB35-0EAADF4686F5}" presName="vProcSp" presStyleCnt="0"/>
      <dgm:spPr/>
      <dgm:t>
        <a:bodyPr/>
        <a:lstStyle/>
        <a:p>
          <a:endParaRPr lang="en-US"/>
        </a:p>
      </dgm:t>
    </dgm:pt>
    <dgm:pt modelId="{24AE1C1B-D448-48C8-8915-87D2A1628014}" type="pres">
      <dgm:prSet presAssocID="{1AA27599-F9E9-4219-AB35-0EAADF4686F5}" presName="vSp1" presStyleCnt="0"/>
      <dgm:spPr/>
      <dgm:t>
        <a:bodyPr/>
        <a:lstStyle/>
        <a:p>
          <a:endParaRPr lang="en-US"/>
        </a:p>
      </dgm:t>
    </dgm:pt>
    <dgm:pt modelId="{204ED50B-63DA-4FAE-882E-2265068FA7DC}" type="pres">
      <dgm:prSet presAssocID="{1AA27599-F9E9-4219-AB35-0EAADF4686F5}" presName="simulatedConn" presStyleLbl="solidFgAcc1" presStyleIdx="0" presStyleCnt="2"/>
      <dgm:spPr/>
      <dgm:t>
        <a:bodyPr/>
        <a:lstStyle/>
        <a:p>
          <a:endParaRPr lang="en-US"/>
        </a:p>
      </dgm:t>
    </dgm:pt>
    <dgm:pt modelId="{3A1C79BC-C18A-44C8-A89C-9AB674755BAC}" type="pres">
      <dgm:prSet presAssocID="{1AA27599-F9E9-4219-AB35-0EAADF4686F5}" presName="vSp2" presStyleCnt="0"/>
      <dgm:spPr/>
      <dgm:t>
        <a:bodyPr/>
        <a:lstStyle/>
        <a:p>
          <a:endParaRPr lang="en-US"/>
        </a:p>
      </dgm:t>
    </dgm:pt>
    <dgm:pt modelId="{9DBCF53B-93B0-4CFD-969E-ED2DE1E57CD8}" type="pres">
      <dgm:prSet presAssocID="{1AA27599-F9E9-4219-AB35-0EAADF4686F5}" presName="sibTrans" presStyleCnt="0"/>
      <dgm:spPr/>
      <dgm:t>
        <a:bodyPr/>
        <a:lstStyle/>
        <a:p>
          <a:endParaRPr lang="en-US"/>
        </a:p>
      </dgm:t>
    </dgm:pt>
    <dgm:pt modelId="{87772442-B90E-4A79-BF46-1ADC4C01C0FE}" type="pres">
      <dgm:prSet presAssocID="{AAF88D45-60BA-4F00-BB55-5C504F748953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5FDFC7-F14B-4882-B104-A8805C59468A}" type="pres">
      <dgm:prSet presAssocID="{AAF88D45-60BA-4F00-BB55-5C504F748953}" presName="bgRect" presStyleLbl="node1" presStyleIdx="1" presStyleCnt="3"/>
      <dgm:spPr/>
      <dgm:t>
        <a:bodyPr/>
        <a:lstStyle/>
        <a:p>
          <a:endParaRPr lang="en-US"/>
        </a:p>
      </dgm:t>
    </dgm:pt>
    <dgm:pt modelId="{46115D5A-05B7-4A71-ACA2-AA57EE72FE7D}" type="pres">
      <dgm:prSet presAssocID="{AAF88D45-60BA-4F00-BB55-5C504F748953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513EF8-052A-48A2-AF1C-501BAF263154}" type="pres">
      <dgm:prSet presAssocID="{AAF88D45-60BA-4F00-BB55-5C504F748953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48E066-04CD-4BE2-9F9A-561E2B9888A5}" type="pres">
      <dgm:prSet presAssocID="{3AC84C1A-6226-4F20-868F-253D0AF866C6}" presName="hSp" presStyleCnt="0"/>
      <dgm:spPr/>
      <dgm:t>
        <a:bodyPr/>
        <a:lstStyle/>
        <a:p>
          <a:endParaRPr lang="en-US"/>
        </a:p>
      </dgm:t>
    </dgm:pt>
    <dgm:pt modelId="{1CDB924E-5ECF-4871-9740-95B75235E9E5}" type="pres">
      <dgm:prSet presAssocID="{3AC84C1A-6226-4F20-868F-253D0AF866C6}" presName="vProcSp" presStyleCnt="0"/>
      <dgm:spPr/>
      <dgm:t>
        <a:bodyPr/>
        <a:lstStyle/>
        <a:p>
          <a:endParaRPr lang="en-US"/>
        </a:p>
      </dgm:t>
    </dgm:pt>
    <dgm:pt modelId="{630CDD87-209B-4F05-9563-3B8DFC6A6E7F}" type="pres">
      <dgm:prSet presAssocID="{3AC84C1A-6226-4F20-868F-253D0AF866C6}" presName="vSp1" presStyleCnt="0"/>
      <dgm:spPr/>
      <dgm:t>
        <a:bodyPr/>
        <a:lstStyle/>
        <a:p>
          <a:endParaRPr lang="en-US"/>
        </a:p>
      </dgm:t>
    </dgm:pt>
    <dgm:pt modelId="{2E49409D-1441-4200-A930-635041E47746}" type="pres">
      <dgm:prSet presAssocID="{3AC84C1A-6226-4F20-868F-253D0AF866C6}" presName="simulatedConn" presStyleLbl="solidFgAcc1" presStyleIdx="1" presStyleCnt="2"/>
      <dgm:spPr/>
      <dgm:t>
        <a:bodyPr/>
        <a:lstStyle/>
        <a:p>
          <a:endParaRPr lang="en-US"/>
        </a:p>
      </dgm:t>
    </dgm:pt>
    <dgm:pt modelId="{43349E08-BA3C-4671-B990-5F98120BE8C7}" type="pres">
      <dgm:prSet presAssocID="{3AC84C1A-6226-4F20-868F-253D0AF866C6}" presName="vSp2" presStyleCnt="0"/>
      <dgm:spPr/>
      <dgm:t>
        <a:bodyPr/>
        <a:lstStyle/>
        <a:p>
          <a:endParaRPr lang="en-US"/>
        </a:p>
      </dgm:t>
    </dgm:pt>
    <dgm:pt modelId="{621DAD6F-F0CC-470D-8BAA-09ED2BDB6F82}" type="pres">
      <dgm:prSet presAssocID="{3AC84C1A-6226-4F20-868F-253D0AF866C6}" presName="sibTrans" presStyleCnt="0"/>
      <dgm:spPr/>
      <dgm:t>
        <a:bodyPr/>
        <a:lstStyle/>
        <a:p>
          <a:endParaRPr lang="en-US"/>
        </a:p>
      </dgm:t>
    </dgm:pt>
    <dgm:pt modelId="{E34A78EB-0BBB-4842-BE7F-135BC92696DF}" type="pres">
      <dgm:prSet presAssocID="{95CC01BB-02A0-44EC-9827-E8FC8B0DF3AF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4D945B-DD30-4DCE-83D2-434F43775C80}" type="pres">
      <dgm:prSet presAssocID="{95CC01BB-02A0-44EC-9827-E8FC8B0DF3AF}" presName="bgRect" presStyleLbl="node1" presStyleIdx="2" presStyleCnt="3"/>
      <dgm:spPr/>
      <dgm:t>
        <a:bodyPr/>
        <a:lstStyle/>
        <a:p>
          <a:endParaRPr lang="en-US"/>
        </a:p>
      </dgm:t>
    </dgm:pt>
    <dgm:pt modelId="{72BCB598-0D34-4F14-8C13-74AAC6FBC229}" type="pres">
      <dgm:prSet presAssocID="{95CC01BB-02A0-44EC-9827-E8FC8B0DF3AF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561FD8-2B9C-4510-8DBB-DAFA02131124}" type="pres">
      <dgm:prSet presAssocID="{95CC01BB-02A0-44EC-9827-E8FC8B0DF3AF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98B193-9E89-43F7-9828-1BACF78CAA83}" type="presOf" srcId="{95CC01BB-02A0-44EC-9827-E8FC8B0DF3AF}" destId="{72BCB598-0D34-4F14-8C13-74AAC6FBC229}" srcOrd="1" destOrd="0" presId="urn:microsoft.com/office/officeart/2005/8/layout/hProcess7"/>
    <dgm:cxn modelId="{C2B34C2C-C6A1-4E61-BFEB-1F541CCC8118}" srcId="{19E7DFE7-9A33-4CB1-A4D6-F0CCB86A16DC}" destId="{1549C801-1756-484A-A7BE-36F4C018BAC0}" srcOrd="0" destOrd="0" parTransId="{24495216-C74D-4347-99DE-FB9579ABC52E}" sibTransId="{26A19B95-FE13-49BD-9CCA-DC5BF2B8EEC3}"/>
    <dgm:cxn modelId="{4AFF9502-5A2D-414A-BED3-E8C1E235FFA6}" type="presOf" srcId="{3E488EDC-B400-4AA6-9C1C-60F5E822EB4A}" destId="{EE561FD8-2B9C-4510-8DBB-DAFA02131124}" srcOrd="0" destOrd="0" presId="urn:microsoft.com/office/officeart/2005/8/layout/hProcess7"/>
    <dgm:cxn modelId="{EBCAD552-7F7D-4860-9FF8-77603C61DF3B}" srcId="{B807C0AE-DA13-4342-B7A7-4DBE8A8D0344}" destId="{95CC01BB-02A0-44EC-9827-E8FC8B0DF3AF}" srcOrd="2" destOrd="0" parTransId="{EC8559F1-9238-45FC-9CC8-E732099A633A}" sibTransId="{9AA64C93-3562-48BE-B2D6-600067FD9CD9}"/>
    <dgm:cxn modelId="{AA4ACCBE-1FE6-47B9-B39E-532D91F9E1CD}" type="presOf" srcId="{1549C801-1756-484A-A7BE-36F4C018BAC0}" destId="{06D40048-B5F4-40A1-BC57-5D1D95802710}" srcOrd="0" destOrd="0" presId="urn:microsoft.com/office/officeart/2005/8/layout/hProcess7"/>
    <dgm:cxn modelId="{7FBEC411-5C10-4BC0-B7D9-DF07370B93D6}" type="presOf" srcId="{B807C0AE-DA13-4342-B7A7-4DBE8A8D0344}" destId="{74FEAC12-49B8-44C0-8EF1-CB1B57201279}" srcOrd="0" destOrd="0" presId="urn:microsoft.com/office/officeart/2005/8/layout/hProcess7"/>
    <dgm:cxn modelId="{B76B8D01-D725-4256-95FA-8F6C7D7E5C66}" srcId="{95CC01BB-02A0-44EC-9827-E8FC8B0DF3AF}" destId="{3E488EDC-B400-4AA6-9C1C-60F5E822EB4A}" srcOrd="0" destOrd="0" parTransId="{47A8C1C2-7C2C-45C9-BE3A-1AE658A3BF4C}" sibTransId="{4F3C3CFB-2D61-4AF1-A356-DC84C017C506}"/>
    <dgm:cxn modelId="{A733536E-688B-4E18-8420-182E5CE27449}" type="presOf" srcId="{ADAF49A5-F7DD-46EE-A162-C3CF914C7014}" destId="{E0513EF8-052A-48A2-AF1C-501BAF263154}" srcOrd="0" destOrd="0" presId="urn:microsoft.com/office/officeart/2005/8/layout/hProcess7"/>
    <dgm:cxn modelId="{DD2593D7-3889-4C7C-B203-667A8C303FB2}" type="presOf" srcId="{19E7DFE7-9A33-4CB1-A4D6-F0CCB86A16DC}" destId="{B41CB982-A08A-4AA6-B575-AAB59660BB69}" srcOrd="0" destOrd="0" presId="urn:microsoft.com/office/officeart/2005/8/layout/hProcess7"/>
    <dgm:cxn modelId="{523FDC87-032B-4CDA-9B4C-D7C561930580}" type="presOf" srcId="{AAF88D45-60BA-4F00-BB55-5C504F748953}" destId="{B95FDFC7-F14B-4882-B104-A8805C59468A}" srcOrd="0" destOrd="0" presId="urn:microsoft.com/office/officeart/2005/8/layout/hProcess7"/>
    <dgm:cxn modelId="{21F014BC-2073-4BD2-81DD-E2746AEEA64F}" srcId="{B807C0AE-DA13-4342-B7A7-4DBE8A8D0344}" destId="{AAF88D45-60BA-4F00-BB55-5C504F748953}" srcOrd="1" destOrd="0" parTransId="{4A0FDB9C-11C4-4389-AE8E-CF97BDD05659}" sibTransId="{3AC84C1A-6226-4F20-868F-253D0AF866C6}"/>
    <dgm:cxn modelId="{20EEF4D3-ACF5-479F-96B1-730573C4D541}" srcId="{B807C0AE-DA13-4342-B7A7-4DBE8A8D0344}" destId="{19E7DFE7-9A33-4CB1-A4D6-F0CCB86A16DC}" srcOrd="0" destOrd="0" parTransId="{EAD000F8-13F8-4E25-855D-BB50EE3649C1}" sibTransId="{1AA27599-F9E9-4219-AB35-0EAADF4686F5}"/>
    <dgm:cxn modelId="{66156DD4-24CB-411C-8072-577172903806}" type="presOf" srcId="{19E7DFE7-9A33-4CB1-A4D6-F0CCB86A16DC}" destId="{E1EF6476-9AD1-4AA6-8825-81F84AE8BD8E}" srcOrd="1" destOrd="0" presId="urn:microsoft.com/office/officeart/2005/8/layout/hProcess7"/>
    <dgm:cxn modelId="{2F9DBC4D-B20A-4816-A133-C21C0B0049D1}" type="presOf" srcId="{AAF88D45-60BA-4F00-BB55-5C504F748953}" destId="{46115D5A-05B7-4A71-ACA2-AA57EE72FE7D}" srcOrd="1" destOrd="0" presId="urn:microsoft.com/office/officeart/2005/8/layout/hProcess7"/>
    <dgm:cxn modelId="{84B6C41C-7A11-4838-BCFC-247D0D1076CB}" srcId="{AAF88D45-60BA-4F00-BB55-5C504F748953}" destId="{ADAF49A5-F7DD-46EE-A162-C3CF914C7014}" srcOrd="0" destOrd="0" parTransId="{4D5CF7DD-0E26-4879-8DF2-23440CD429BC}" sibTransId="{08DC5850-B387-4674-BF40-9807A5C0BC61}"/>
    <dgm:cxn modelId="{45BB0877-F51B-4FAF-AB2E-9553E9D917C0}" type="presOf" srcId="{95CC01BB-02A0-44EC-9827-E8FC8B0DF3AF}" destId="{FA4D945B-DD30-4DCE-83D2-434F43775C80}" srcOrd="0" destOrd="0" presId="urn:microsoft.com/office/officeart/2005/8/layout/hProcess7"/>
    <dgm:cxn modelId="{521D5376-76E9-41E5-BB23-F95D039630DB}" type="presParOf" srcId="{74FEAC12-49B8-44C0-8EF1-CB1B57201279}" destId="{85393949-1707-45BF-9C85-720F4F885C35}" srcOrd="0" destOrd="0" presId="urn:microsoft.com/office/officeart/2005/8/layout/hProcess7"/>
    <dgm:cxn modelId="{F3358FEF-1031-4646-96EE-8A9748A16A09}" type="presParOf" srcId="{85393949-1707-45BF-9C85-720F4F885C35}" destId="{B41CB982-A08A-4AA6-B575-AAB59660BB69}" srcOrd="0" destOrd="0" presId="urn:microsoft.com/office/officeart/2005/8/layout/hProcess7"/>
    <dgm:cxn modelId="{285D4125-B5D5-458B-9691-880B90D05B19}" type="presParOf" srcId="{85393949-1707-45BF-9C85-720F4F885C35}" destId="{E1EF6476-9AD1-4AA6-8825-81F84AE8BD8E}" srcOrd="1" destOrd="0" presId="urn:microsoft.com/office/officeart/2005/8/layout/hProcess7"/>
    <dgm:cxn modelId="{A34D6AF9-949F-42C5-923A-19B6FD3467A5}" type="presParOf" srcId="{85393949-1707-45BF-9C85-720F4F885C35}" destId="{06D40048-B5F4-40A1-BC57-5D1D95802710}" srcOrd="2" destOrd="0" presId="urn:microsoft.com/office/officeart/2005/8/layout/hProcess7"/>
    <dgm:cxn modelId="{7B062575-23BF-4478-8F0F-55B656330CE2}" type="presParOf" srcId="{74FEAC12-49B8-44C0-8EF1-CB1B57201279}" destId="{7848C07B-DAF6-46BE-BB1A-1DD9224B7DAA}" srcOrd="1" destOrd="0" presId="urn:microsoft.com/office/officeart/2005/8/layout/hProcess7"/>
    <dgm:cxn modelId="{E67BDDA4-75CC-4A85-AED4-7AEEE01F2DE9}" type="presParOf" srcId="{74FEAC12-49B8-44C0-8EF1-CB1B57201279}" destId="{AD6C3EE2-7956-4217-BB91-BDA2EEF690FB}" srcOrd="2" destOrd="0" presId="urn:microsoft.com/office/officeart/2005/8/layout/hProcess7"/>
    <dgm:cxn modelId="{66BD86CA-8794-46C3-822F-A41AA78D9180}" type="presParOf" srcId="{AD6C3EE2-7956-4217-BB91-BDA2EEF690FB}" destId="{24AE1C1B-D448-48C8-8915-87D2A1628014}" srcOrd="0" destOrd="0" presId="urn:microsoft.com/office/officeart/2005/8/layout/hProcess7"/>
    <dgm:cxn modelId="{3EE6B1A2-505E-429B-BFD8-B0F611B45EBC}" type="presParOf" srcId="{AD6C3EE2-7956-4217-BB91-BDA2EEF690FB}" destId="{204ED50B-63DA-4FAE-882E-2265068FA7DC}" srcOrd="1" destOrd="0" presId="urn:microsoft.com/office/officeart/2005/8/layout/hProcess7"/>
    <dgm:cxn modelId="{B4FAAAE1-11BE-4533-B1C5-9E3A54B736F3}" type="presParOf" srcId="{AD6C3EE2-7956-4217-BB91-BDA2EEF690FB}" destId="{3A1C79BC-C18A-44C8-A89C-9AB674755BAC}" srcOrd="2" destOrd="0" presId="urn:microsoft.com/office/officeart/2005/8/layout/hProcess7"/>
    <dgm:cxn modelId="{D8BA4275-CE9D-4A63-93EC-AEAD493D663F}" type="presParOf" srcId="{74FEAC12-49B8-44C0-8EF1-CB1B57201279}" destId="{9DBCF53B-93B0-4CFD-969E-ED2DE1E57CD8}" srcOrd="3" destOrd="0" presId="urn:microsoft.com/office/officeart/2005/8/layout/hProcess7"/>
    <dgm:cxn modelId="{C340261F-5C36-4BE5-A8EA-A45A89BE6123}" type="presParOf" srcId="{74FEAC12-49B8-44C0-8EF1-CB1B57201279}" destId="{87772442-B90E-4A79-BF46-1ADC4C01C0FE}" srcOrd="4" destOrd="0" presId="urn:microsoft.com/office/officeart/2005/8/layout/hProcess7"/>
    <dgm:cxn modelId="{624CD7C1-817C-419E-8321-8A9F3B31FC95}" type="presParOf" srcId="{87772442-B90E-4A79-BF46-1ADC4C01C0FE}" destId="{B95FDFC7-F14B-4882-B104-A8805C59468A}" srcOrd="0" destOrd="0" presId="urn:microsoft.com/office/officeart/2005/8/layout/hProcess7"/>
    <dgm:cxn modelId="{27D6EF6D-4371-4404-8AE6-94DF2A9F5E3D}" type="presParOf" srcId="{87772442-B90E-4A79-BF46-1ADC4C01C0FE}" destId="{46115D5A-05B7-4A71-ACA2-AA57EE72FE7D}" srcOrd="1" destOrd="0" presId="urn:microsoft.com/office/officeart/2005/8/layout/hProcess7"/>
    <dgm:cxn modelId="{5340DFCE-44B5-40DE-8785-BF8A07D3DA21}" type="presParOf" srcId="{87772442-B90E-4A79-BF46-1ADC4C01C0FE}" destId="{E0513EF8-052A-48A2-AF1C-501BAF263154}" srcOrd="2" destOrd="0" presId="urn:microsoft.com/office/officeart/2005/8/layout/hProcess7"/>
    <dgm:cxn modelId="{663FEE02-CC3F-4285-A08B-90B638DBD939}" type="presParOf" srcId="{74FEAC12-49B8-44C0-8EF1-CB1B57201279}" destId="{6B48E066-04CD-4BE2-9F9A-561E2B9888A5}" srcOrd="5" destOrd="0" presId="urn:microsoft.com/office/officeart/2005/8/layout/hProcess7"/>
    <dgm:cxn modelId="{DC0D3232-3BFD-4AEA-AE5D-7D0E93BFF175}" type="presParOf" srcId="{74FEAC12-49B8-44C0-8EF1-CB1B57201279}" destId="{1CDB924E-5ECF-4871-9740-95B75235E9E5}" srcOrd="6" destOrd="0" presId="urn:microsoft.com/office/officeart/2005/8/layout/hProcess7"/>
    <dgm:cxn modelId="{CE00CC7D-AAF0-428E-97CC-D9F2919848CE}" type="presParOf" srcId="{1CDB924E-5ECF-4871-9740-95B75235E9E5}" destId="{630CDD87-209B-4F05-9563-3B8DFC6A6E7F}" srcOrd="0" destOrd="0" presId="urn:microsoft.com/office/officeart/2005/8/layout/hProcess7"/>
    <dgm:cxn modelId="{5FA83ED3-A23F-4BD9-834C-55F11183927A}" type="presParOf" srcId="{1CDB924E-5ECF-4871-9740-95B75235E9E5}" destId="{2E49409D-1441-4200-A930-635041E47746}" srcOrd="1" destOrd="0" presId="urn:microsoft.com/office/officeart/2005/8/layout/hProcess7"/>
    <dgm:cxn modelId="{F08D952D-6478-4073-82FD-78CDEFC9E5BB}" type="presParOf" srcId="{1CDB924E-5ECF-4871-9740-95B75235E9E5}" destId="{43349E08-BA3C-4671-B990-5F98120BE8C7}" srcOrd="2" destOrd="0" presId="urn:microsoft.com/office/officeart/2005/8/layout/hProcess7"/>
    <dgm:cxn modelId="{47E242C3-1309-43A2-971D-F299C8A386FA}" type="presParOf" srcId="{74FEAC12-49B8-44C0-8EF1-CB1B57201279}" destId="{621DAD6F-F0CC-470D-8BAA-09ED2BDB6F82}" srcOrd="7" destOrd="0" presId="urn:microsoft.com/office/officeart/2005/8/layout/hProcess7"/>
    <dgm:cxn modelId="{3192DF3C-35D1-4BBA-A3DB-82124E782DCF}" type="presParOf" srcId="{74FEAC12-49B8-44C0-8EF1-CB1B57201279}" destId="{E34A78EB-0BBB-4842-BE7F-135BC92696DF}" srcOrd="8" destOrd="0" presId="urn:microsoft.com/office/officeart/2005/8/layout/hProcess7"/>
    <dgm:cxn modelId="{6B5EB372-37A4-42DD-9EDB-3BC509F12586}" type="presParOf" srcId="{E34A78EB-0BBB-4842-BE7F-135BC92696DF}" destId="{FA4D945B-DD30-4DCE-83D2-434F43775C80}" srcOrd="0" destOrd="0" presId="urn:microsoft.com/office/officeart/2005/8/layout/hProcess7"/>
    <dgm:cxn modelId="{24D05984-8AF2-4B69-9510-9C4154247042}" type="presParOf" srcId="{E34A78EB-0BBB-4842-BE7F-135BC92696DF}" destId="{72BCB598-0D34-4F14-8C13-74AAC6FBC229}" srcOrd="1" destOrd="0" presId="urn:microsoft.com/office/officeart/2005/8/layout/hProcess7"/>
    <dgm:cxn modelId="{82FF6A33-AEAC-47E1-A43C-1DC1931E62CC}" type="presParOf" srcId="{E34A78EB-0BBB-4842-BE7F-135BC92696DF}" destId="{EE561FD8-2B9C-4510-8DBB-DAFA02131124}" srcOrd="2" destOrd="0" presId="urn:microsoft.com/office/officeart/2005/8/layout/hProcess7"/>
  </dgm:cxnLst>
  <dgm:bg>
    <a:solidFill>
      <a:schemeClr val="accent1">
        <a:lumMod val="20000"/>
        <a:lumOff val="80000"/>
      </a:schemeClr>
    </a:solidFill>
  </dgm:bg>
  <dgm:whole>
    <a:ln>
      <a:solidFill>
        <a:schemeClr val="accent2">
          <a:lumMod val="20000"/>
          <a:lumOff val="8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473DC7-20A3-41D6-9FDD-CB4D7768C3B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FA2C6A-E7E1-4692-955C-FBA25159CA6F}">
      <dgm:prSet phldrT="[Text]"/>
      <dgm:spPr/>
      <dgm:t>
        <a:bodyPr/>
        <a:lstStyle/>
        <a:p>
          <a:r>
            <a:rPr lang="en-US" dirty="0" smtClean="0"/>
            <a:t>Direct via website</a:t>
          </a:r>
          <a:endParaRPr lang="en-US" dirty="0"/>
        </a:p>
      </dgm:t>
    </dgm:pt>
    <dgm:pt modelId="{CBE5E8FF-5B41-43A7-B97C-7062C38640E5}" type="parTrans" cxnId="{AE39C8E8-4643-468F-9FE5-14A2088CE5BE}">
      <dgm:prSet/>
      <dgm:spPr/>
      <dgm:t>
        <a:bodyPr/>
        <a:lstStyle/>
        <a:p>
          <a:endParaRPr lang="en-US"/>
        </a:p>
      </dgm:t>
    </dgm:pt>
    <dgm:pt modelId="{23E73C3C-9415-411E-BAB3-1C4D054BA01B}" type="sibTrans" cxnId="{AE39C8E8-4643-468F-9FE5-14A2088CE5BE}">
      <dgm:prSet/>
      <dgm:spPr/>
      <dgm:t>
        <a:bodyPr/>
        <a:lstStyle/>
        <a:p>
          <a:endParaRPr lang="en-US"/>
        </a:p>
      </dgm:t>
    </dgm:pt>
    <dgm:pt modelId="{E8F77245-C19F-44D5-8FA5-81D54045C762}">
      <dgm:prSet phldrT="[Text]"/>
      <dgm:spPr/>
      <dgm:t>
        <a:bodyPr/>
        <a:lstStyle/>
        <a:p>
          <a:r>
            <a:rPr lang="en-US" dirty="0" smtClean="0"/>
            <a:t>Direct via mobile application</a:t>
          </a:r>
          <a:endParaRPr lang="en-US" dirty="0"/>
        </a:p>
      </dgm:t>
    </dgm:pt>
    <dgm:pt modelId="{D703C355-60CC-49A5-BC70-79D951F8D6D3}" type="parTrans" cxnId="{9A73EFD7-5FF4-48FF-929E-C562BF5AD498}">
      <dgm:prSet/>
      <dgm:spPr/>
      <dgm:t>
        <a:bodyPr/>
        <a:lstStyle/>
        <a:p>
          <a:endParaRPr lang="en-US"/>
        </a:p>
      </dgm:t>
    </dgm:pt>
    <dgm:pt modelId="{D8CBBABB-FE3F-48E5-8213-F0F88CF02B09}" type="sibTrans" cxnId="{9A73EFD7-5FF4-48FF-929E-C562BF5AD498}">
      <dgm:prSet/>
      <dgm:spPr/>
      <dgm:t>
        <a:bodyPr/>
        <a:lstStyle/>
        <a:p>
          <a:endParaRPr lang="en-US"/>
        </a:p>
      </dgm:t>
    </dgm:pt>
    <dgm:pt modelId="{53429C1F-671A-40C5-9E45-E97692BEFABE}">
      <dgm:prSet phldrT="[Text]"/>
      <dgm:spPr/>
      <dgm:t>
        <a:bodyPr/>
        <a:lstStyle/>
        <a:p>
          <a:r>
            <a:rPr lang="en-US" dirty="0" smtClean="0"/>
            <a:t>Direct via affiliate networks</a:t>
          </a:r>
          <a:endParaRPr lang="en-US" dirty="0"/>
        </a:p>
      </dgm:t>
    </dgm:pt>
    <dgm:pt modelId="{72787C1D-D685-4DB4-ABD4-5F9C2C3C4B42}" type="parTrans" cxnId="{E9F8DE40-1C6B-4756-8D20-8CB3EDE7F165}">
      <dgm:prSet/>
      <dgm:spPr/>
      <dgm:t>
        <a:bodyPr/>
        <a:lstStyle/>
        <a:p>
          <a:endParaRPr lang="en-US"/>
        </a:p>
      </dgm:t>
    </dgm:pt>
    <dgm:pt modelId="{A560264D-E21E-4795-9FD7-A0CA81753BC5}" type="sibTrans" cxnId="{E9F8DE40-1C6B-4756-8D20-8CB3EDE7F165}">
      <dgm:prSet/>
      <dgm:spPr/>
      <dgm:t>
        <a:bodyPr/>
        <a:lstStyle/>
        <a:p>
          <a:endParaRPr lang="en-US"/>
        </a:p>
      </dgm:t>
    </dgm:pt>
    <dgm:pt modelId="{2C8A1412-40C0-46AD-A8E5-BC6587136BCA}" type="pres">
      <dgm:prSet presAssocID="{7B473DC7-20A3-41D6-9FDD-CB4D7768C3B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30A510-5691-4996-B459-502ED97ECC14}" type="pres">
      <dgm:prSet presAssocID="{71FA2C6A-E7E1-4692-955C-FBA25159CA6F}" presName="parentLin" presStyleCnt="0"/>
      <dgm:spPr/>
    </dgm:pt>
    <dgm:pt modelId="{988AA50E-4A52-4CA9-BF16-7A8C17FB218E}" type="pres">
      <dgm:prSet presAssocID="{71FA2C6A-E7E1-4692-955C-FBA25159CA6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FC1E7AC7-61E7-4CED-BE23-153BF471C1A1}" type="pres">
      <dgm:prSet presAssocID="{71FA2C6A-E7E1-4692-955C-FBA25159CA6F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732993-BA39-451A-A954-6D7C02AF3573}" type="pres">
      <dgm:prSet presAssocID="{71FA2C6A-E7E1-4692-955C-FBA25159CA6F}" presName="negativeSpace" presStyleCnt="0"/>
      <dgm:spPr/>
    </dgm:pt>
    <dgm:pt modelId="{00500C71-C28B-4CB1-B119-6AB9F2203F3A}" type="pres">
      <dgm:prSet presAssocID="{71FA2C6A-E7E1-4692-955C-FBA25159CA6F}" presName="childText" presStyleLbl="conFgAcc1" presStyleIdx="0" presStyleCnt="3">
        <dgm:presLayoutVars>
          <dgm:bulletEnabled val="1"/>
        </dgm:presLayoutVars>
      </dgm:prSet>
      <dgm:spPr/>
    </dgm:pt>
    <dgm:pt modelId="{2BF0BFF1-58DC-408B-9E8C-4AFF3198054C}" type="pres">
      <dgm:prSet presAssocID="{23E73C3C-9415-411E-BAB3-1C4D054BA01B}" presName="spaceBetweenRectangles" presStyleCnt="0"/>
      <dgm:spPr/>
    </dgm:pt>
    <dgm:pt modelId="{E075FC7E-BA62-4033-9FED-35F79C0AEEC1}" type="pres">
      <dgm:prSet presAssocID="{E8F77245-C19F-44D5-8FA5-81D54045C762}" presName="parentLin" presStyleCnt="0"/>
      <dgm:spPr/>
    </dgm:pt>
    <dgm:pt modelId="{1E95C182-BC9E-45F2-B3C8-2622D3466A44}" type="pres">
      <dgm:prSet presAssocID="{E8F77245-C19F-44D5-8FA5-81D54045C762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44D4C060-E7D2-4E33-8D83-BAE438DD0E07}" type="pres">
      <dgm:prSet presAssocID="{E8F77245-C19F-44D5-8FA5-81D54045C76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5DDB26-6C11-4E4B-858C-F08DBB98C446}" type="pres">
      <dgm:prSet presAssocID="{E8F77245-C19F-44D5-8FA5-81D54045C762}" presName="negativeSpace" presStyleCnt="0"/>
      <dgm:spPr/>
    </dgm:pt>
    <dgm:pt modelId="{0B81DCB6-55C1-48A8-8423-F57585208918}" type="pres">
      <dgm:prSet presAssocID="{E8F77245-C19F-44D5-8FA5-81D54045C762}" presName="childText" presStyleLbl="conFgAcc1" presStyleIdx="1" presStyleCnt="3">
        <dgm:presLayoutVars>
          <dgm:bulletEnabled val="1"/>
        </dgm:presLayoutVars>
      </dgm:prSet>
      <dgm:spPr/>
    </dgm:pt>
    <dgm:pt modelId="{76DE3FD2-14C8-462A-8C90-130A08BA0315}" type="pres">
      <dgm:prSet presAssocID="{D8CBBABB-FE3F-48E5-8213-F0F88CF02B09}" presName="spaceBetweenRectangles" presStyleCnt="0"/>
      <dgm:spPr/>
    </dgm:pt>
    <dgm:pt modelId="{66613570-3982-4BD8-8698-943CD5B30EE2}" type="pres">
      <dgm:prSet presAssocID="{53429C1F-671A-40C5-9E45-E97692BEFABE}" presName="parentLin" presStyleCnt="0"/>
      <dgm:spPr/>
    </dgm:pt>
    <dgm:pt modelId="{0EEB0E92-7C3E-4585-A5ED-A09C29277675}" type="pres">
      <dgm:prSet presAssocID="{53429C1F-671A-40C5-9E45-E97692BEFABE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4F564DA4-0A4F-428C-9493-7F9BEAA7F218}" type="pres">
      <dgm:prSet presAssocID="{53429C1F-671A-40C5-9E45-E97692BEFAB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1ABAD3-7433-40A8-BB5A-2C61E53F82AE}" type="pres">
      <dgm:prSet presAssocID="{53429C1F-671A-40C5-9E45-E97692BEFABE}" presName="negativeSpace" presStyleCnt="0"/>
      <dgm:spPr/>
    </dgm:pt>
    <dgm:pt modelId="{93DBBE16-48E9-4F74-A45E-395F6AB9C99A}" type="pres">
      <dgm:prSet presAssocID="{53429C1F-671A-40C5-9E45-E97692BEFA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E39C8E8-4643-468F-9FE5-14A2088CE5BE}" srcId="{7B473DC7-20A3-41D6-9FDD-CB4D7768C3BA}" destId="{71FA2C6A-E7E1-4692-955C-FBA25159CA6F}" srcOrd="0" destOrd="0" parTransId="{CBE5E8FF-5B41-43A7-B97C-7062C38640E5}" sibTransId="{23E73C3C-9415-411E-BAB3-1C4D054BA01B}"/>
    <dgm:cxn modelId="{19DC9335-8673-40F4-803D-2953B7D00139}" type="presOf" srcId="{E8F77245-C19F-44D5-8FA5-81D54045C762}" destId="{44D4C060-E7D2-4E33-8D83-BAE438DD0E07}" srcOrd="1" destOrd="0" presId="urn:microsoft.com/office/officeart/2005/8/layout/list1"/>
    <dgm:cxn modelId="{44EBB33A-90B4-476E-9E0D-C864D3A0D6EF}" type="presOf" srcId="{71FA2C6A-E7E1-4692-955C-FBA25159CA6F}" destId="{988AA50E-4A52-4CA9-BF16-7A8C17FB218E}" srcOrd="0" destOrd="0" presId="urn:microsoft.com/office/officeart/2005/8/layout/list1"/>
    <dgm:cxn modelId="{99689660-BB86-4668-9DB9-D1B799E202FE}" type="presOf" srcId="{53429C1F-671A-40C5-9E45-E97692BEFABE}" destId="{0EEB0E92-7C3E-4585-A5ED-A09C29277675}" srcOrd="0" destOrd="0" presId="urn:microsoft.com/office/officeart/2005/8/layout/list1"/>
    <dgm:cxn modelId="{310D38B6-3B48-4E52-8CB6-82D5DB4D291C}" type="presOf" srcId="{71FA2C6A-E7E1-4692-955C-FBA25159CA6F}" destId="{FC1E7AC7-61E7-4CED-BE23-153BF471C1A1}" srcOrd="1" destOrd="0" presId="urn:microsoft.com/office/officeart/2005/8/layout/list1"/>
    <dgm:cxn modelId="{B309672D-9892-440C-89DC-ACFF7C296F65}" type="presOf" srcId="{7B473DC7-20A3-41D6-9FDD-CB4D7768C3BA}" destId="{2C8A1412-40C0-46AD-A8E5-BC6587136BCA}" srcOrd="0" destOrd="0" presId="urn:microsoft.com/office/officeart/2005/8/layout/list1"/>
    <dgm:cxn modelId="{E9F8DE40-1C6B-4756-8D20-8CB3EDE7F165}" srcId="{7B473DC7-20A3-41D6-9FDD-CB4D7768C3BA}" destId="{53429C1F-671A-40C5-9E45-E97692BEFABE}" srcOrd="2" destOrd="0" parTransId="{72787C1D-D685-4DB4-ABD4-5F9C2C3C4B42}" sibTransId="{A560264D-E21E-4795-9FD7-A0CA81753BC5}"/>
    <dgm:cxn modelId="{1E2690C8-2DDA-49A4-B754-180573934134}" type="presOf" srcId="{E8F77245-C19F-44D5-8FA5-81D54045C762}" destId="{1E95C182-BC9E-45F2-B3C8-2622D3466A44}" srcOrd="0" destOrd="0" presId="urn:microsoft.com/office/officeart/2005/8/layout/list1"/>
    <dgm:cxn modelId="{9A73EFD7-5FF4-48FF-929E-C562BF5AD498}" srcId="{7B473DC7-20A3-41D6-9FDD-CB4D7768C3BA}" destId="{E8F77245-C19F-44D5-8FA5-81D54045C762}" srcOrd="1" destOrd="0" parTransId="{D703C355-60CC-49A5-BC70-79D951F8D6D3}" sibTransId="{D8CBBABB-FE3F-48E5-8213-F0F88CF02B09}"/>
    <dgm:cxn modelId="{111BBA8D-8AF1-4856-82D4-ABC1819D31B7}" type="presOf" srcId="{53429C1F-671A-40C5-9E45-E97692BEFABE}" destId="{4F564DA4-0A4F-428C-9493-7F9BEAA7F218}" srcOrd="1" destOrd="0" presId="urn:microsoft.com/office/officeart/2005/8/layout/list1"/>
    <dgm:cxn modelId="{7EE630FF-CAAE-426D-AAF2-605C8C1F3A49}" type="presParOf" srcId="{2C8A1412-40C0-46AD-A8E5-BC6587136BCA}" destId="{E730A510-5691-4996-B459-502ED97ECC14}" srcOrd="0" destOrd="0" presId="urn:microsoft.com/office/officeart/2005/8/layout/list1"/>
    <dgm:cxn modelId="{97D42937-E742-47C6-A2BB-8027B97411F8}" type="presParOf" srcId="{E730A510-5691-4996-B459-502ED97ECC14}" destId="{988AA50E-4A52-4CA9-BF16-7A8C17FB218E}" srcOrd="0" destOrd="0" presId="urn:microsoft.com/office/officeart/2005/8/layout/list1"/>
    <dgm:cxn modelId="{D8B1F0D2-9208-4A0A-A39B-346405942F48}" type="presParOf" srcId="{E730A510-5691-4996-B459-502ED97ECC14}" destId="{FC1E7AC7-61E7-4CED-BE23-153BF471C1A1}" srcOrd="1" destOrd="0" presId="urn:microsoft.com/office/officeart/2005/8/layout/list1"/>
    <dgm:cxn modelId="{F4DBFAAD-1E9D-44E7-814A-AAC9DA2FC411}" type="presParOf" srcId="{2C8A1412-40C0-46AD-A8E5-BC6587136BCA}" destId="{43732993-BA39-451A-A954-6D7C02AF3573}" srcOrd="1" destOrd="0" presId="urn:microsoft.com/office/officeart/2005/8/layout/list1"/>
    <dgm:cxn modelId="{7A262EBC-D639-4436-9306-9BD43D0409CB}" type="presParOf" srcId="{2C8A1412-40C0-46AD-A8E5-BC6587136BCA}" destId="{00500C71-C28B-4CB1-B119-6AB9F2203F3A}" srcOrd="2" destOrd="0" presId="urn:microsoft.com/office/officeart/2005/8/layout/list1"/>
    <dgm:cxn modelId="{0D75AC3A-DC86-4C69-8991-EB3135573CFB}" type="presParOf" srcId="{2C8A1412-40C0-46AD-A8E5-BC6587136BCA}" destId="{2BF0BFF1-58DC-408B-9E8C-4AFF3198054C}" srcOrd="3" destOrd="0" presId="urn:microsoft.com/office/officeart/2005/8/layout/list1"/>
    <dgm:cxn modelId="{69D9E69E-FD60-47BC-99E5-E1D3D3CC294E}" type="presParOf" srcId="{2C8A1412-40C0-46AD-A8E5-BC6587136BCA}" destId="{E075FC7E-BA62-4033-9FED-35F79C0AEEC1}" srcOrd="4" destOrd="0" presId="urn:microsoft.com/office/officeart/2005/8/layout/list1"/>
    <dgm:cxn modelId="{EA97760A-ABD0-4E9C-89CC-A7A9B35A6558}" type="presParOf" srcId="{E075FC7E-BA62-4033-9FED-35F79C0AEEC1}" destId="{1E95C182-BC9E-45F2-B3C8-2622D3466A44}" srcOrd="0" destOrd="0" presId="urn:microsoft.com/office/officeart/2005/8/layout/list1"/>
    <dgm:cxn modelId="{38CA2701-B968-4ED4-9F96-7FBA9624D3D0}" type="presParOf" srcId="{E075FC7E-BA62-4033-9FED-35F79C0AEEC1}" destId="{44D4C060-E7D2-4E33-8D83-BAE438DD0E07}" srcOrd="1" destOrd="0" presId="urn:microsoft.com/office/officeart/2005/8/layout/list1"/>
    <dgm:cxn modelId="{9868F4D7-BB9F-4665-BDD8-7668B9DCF482}" type="presParOf" srcId="{2C8A1412-40C0-46AD-A8E5-BC6587136BCA}" destId="{815DDB26-6C11-4E4B-858C-F08DBB98C446}" srcOrd="5" destOrd="0" presId="urn:microsoft.com/office/officeart/2005/8/layout/list1"/>
    <dgm:cxn modelId="{7C2CF4A2-32EB-4CE0-BE00-E85F6C8F94EB}" type="presParOf" srcId="{2C8A1412-40C0-46AD-A8E5-BC6587136BCA}" destId="{0B81DCB6-55C1-48A8-8423-F57585208918}" srcOrd="6" destOrd="0" presId="urn:microsoft.com/office/officeart/2005/8/layout/list1"/>
    <dgm:cxn modelId="{1526B4E5-0E5A-49DF-A172-FB4455E8EE70}" type="presParOf" srcId="{2C8A1412-40C0-46AD-A8E5-BC6587136BCA}" destId="{76DE3FD2-14C8-462A-8C90-130A08BA0315}" srcOrd="7" destOrd="0" presId="urn:microsoft.com/office/officeart/2005/8/layout/list1"/>
    <dgm:cxn modelId="{3A560488-E0FE-428B-A201-9F1D6D59FBB9}" type="presParOf" srcId="{2C8A1412-40C0-46AD-A8E5-BC6587136BCA}" destId="{66613570-3982-4BD8-8698-943CD5B30EE2}" srcOrd="8" destOrd="0" presId="urn:microsoft.com/office/officeart/2005/8/layout/list1"/>
    <dgm:cxn modelId="{A40266B6-63F3-46FB-AD64-AD71A982D513}" type="presParOf" srcId="{66613570-3982-4BD8-8698-943CD5B30EE2}" destId="{0EEB0E92-7C3E-4585-A5ED-A09C29277675}" srcOrd="0" destOrd="0" presId="urn:microsoft.com/office/officeart/2005/8/layout/list1"/>
    <dgm:cxn modelId="{40D54704-ACF7-4781-B000-514B5D1BBE07}" type="presParOf" srcId="{66613570-3982-4BD8-8698-943CD5B30EE2}" destId="{4F564DA4-0A4F-428C-9493-7F9BEAA7F218}" srcOrd="1" destOrd="0" presId="urn:microsoft.com/office/officeart/2005/8/layout/list1"/>
    <dgm:cxn modelId="{CEB39BAE-8320-4D8A-BB5B-9EABE58F90AD}" type="presParOf" srcId="{2C8A1412-40C0-46AD-A8E5-BC6587136BCA}" destId="{D81ABAD3-7433-40A8-BB5A-2C61E53F82AE}" srcOrd="9" destOrd="0" presId="urn:microsoft.com/office/officeart/2005/8/layout/list1"/>
    <dgm:cxn modelId="{0315A723-30E8-409B-AA44-0B6ACBA1FA46}" type="presParOf" srcId="{2C8A1412-40C0-46AD-A8E5-BC6587136BCA}" destId="{93DBBE16-48E9-4F74-A45E-395F6AB9C99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473DC7-20A3-41D6-9FDD-CB4D7768C3B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FA2C6A-E7E1-4692-955C-FBA25159CA6F}">
      <dgm:prSet phldrT="[Text]"/>
      <dgm:spPr/>
      <dgm:t>
        <a:bodyPr/>
        <a:lstStyle/>
        <a:p>
          <a:r>
            <a:rPr lang="en-US" dirty="0" smtClean="0"/>
            <a:t>SEO Strategy</a:t>
          </a:r>
          <a:endParaRPr lang="en-US" dirty="0"/>
        </a:p>
      </dgm:t>
    </dgm:pt>
    <dgm:pt modelId="{CBE5E8FF-5B41-43A7-B97C-7062C38640E5}" type="parTrans" cxnId="{AE39C8E8-4643-468F-9FE5-14A2088CE5BE}">
      <dgm:prSet/>
      <dgm:spPr/>
      <dgm:t>
        <a:bodyPr/>
        <a:lstStyle/>
        <a:p>
          <a:endParaRPr lang="en-US"/>
        </a:p>
      </dgm:t>
    </dgm:pt>
    <dgm:pt modelId="{23E73C3C-9415-411E-BAB3-1C4D054BA01B}" type="sibTrans" cxnId="{AE39C8E8-4643-468F-9FE5-14A2088CE5BE}">
      <dgm:prSet/>
      <dgm:spPr/>
      <dgm:t>
        <a:bodyPr/>
        <a:lstStyle/>
        <a:p>
          <a:endParaRPr lang="en-US"/>
        </a:p>
      </dgm:t>
    </dgm:pt>
    <dgm:pt modelId="{E8F77245-C19F-44D5-8FA5-81D54045C762}">
      <dgm:prSet phldrT="[Text]"/>
      <dgm:spPr/>
      <dgm:t>
        <a:bodyPr/>
        <a:lstStyle/>
        <a:p>
          <a:r>
            <a:rPr lang="en-US" dirty="0" smtClean="0"/>
            <a:t>Influencer Marketing</a:t>
          </a:r>
          <a:endParaRPr lang="en-US" dirty="0"/>
        </a:p>
      </dgm:t>
    </dgm:pt>
    <dgm:pt modelId="{D703C355-60CC-49A5-BC70-79D951F8D6D3}" type="parTrans" cxnId="{9A73EFD7-5FF4-48FF-929E-C562BF5AD498}">
      <dgm:prSet/>
      <dgm:spPr/>
      <dgm:t>
        <a:bodyPr/>
        <a:lstStyle/>
        <a:p>
          <a:endParaRPr lang="en-US"/>
        </a:p>
      </dgm:t>
    </dgm:pt>
    <dgm:pt modelId="{D8CBBABB-FE3F-48E5-8213-F0F88CF02B09}" type="sibTrans" cxnId="{9A73EFD7-5FF4-48FF-929E-C562BF5AD498}">
      <dgm:prSet/>
      <dgm:spPr/>
      <dgm:t>
        <a:bodyPr/>
        <a:lstStyle/>
        <a:p>
          <a:endParaRPr lang="en-US"/>
        </a:p>
      </dgm:t>
    </dgm:pt>
    <dgm:pt modelId="{53429C1F-671A-40C5-9E45-E97692BEFABE}">
      <dgm:prSet phldrT="[Text]"/>
      <dgm:spPr/>
      <dgm:t>
        <a:bodyPr/>
        <a:lstStyle/>
        <a:p>
          <a:r>
            <a:rPr lang="en-US" dirty="0" smtClean="0"/>
            <a:t>Content Marketing Strategy</a:t>
          </a:r>
          <a:endParaRPr lang="en-US" dirty="0"/>
        </a:p>
      </dgm:t>
    </dgm:pt>
    <dgm:pt modelId="{72787C1D-D685-4DB4-ABD4-5F9C2C3C4B42}" type="parTrans" cxnId="{E9F8DE40-1C6B-4756-8D20-8CB3EDE7F165}">
      <dgm:prSet/>
      <dgm:spPr/>
      <dgm:t>
        <a:bodyPr/>
        <a:lstStyle/>
        <a:p>
          <a:endParaRPr lang="en-US"/>
        </a:p>
      </dgm:t>
    </dgm:pt>
    <dgm:pt modelId="{A560264D-E21E-4795-9FD7-A0CA81753BC5}" type="sibTrans" cxnId="{E9F8DE40-1C6B-4756-8D20-8CB3EDE7F165}">
      <dgm:prSet/>
      <dgm:spPr/>
      <dgm:t>
        <a:bodyPr/>
        <a:lstStyle/>
        <a:p>
          <a:endParaRPr lang="en-US"/>
        </a:p>
      </dgm:t>
    </dgm:pt>
    <dgm:pt modelId="{2C8A1412-40C0-46AD-A8E5-BC6587136BCA}" type="pres">
      <dgm:prSet presAssocID="{7B473DC7-20A3-41D6-9FDD-CB4D7768C3B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30A510-5691-4996-B459-502ED97ECC14}" type="pres">
      <dgm:prSet presAssocID="{71FA2C6A-E7E1-4692-955C-FBA25159CA6F}" presName="parentLin" presStyleCnt="0"/>
      <dgm:spPr/>
    </dgm:pt>
    <dgm:pt modelId="{988AA50E-4A52-4CA9-BF16-7A8C17FB218E}" type="pres">
      <dgm:prSet presAssocID="{71FA2C6A-E7E1-4692-955C-FBA25159CA6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FC1E7AC7-61E7-4CED-BE23-153BF471C1A1}" type="pres">
      <dgm:prSet presAssocID="{71FA2C6A-E7E1-4692-955C-FBA25159CA6F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732993-BA39-451A-A954-6D7C02AF3573}" type="pres">
      <dgm:prSet presAssocID="{71FA2C6A-E7E1-4692-955C-FBA25159CA6F}" presName="negativeSpace" presStyleCnt="0"/>
      <dgm:spPr/>
    </dgm:pt>
    <dgm:pt modelId="{00500C71-C28B-4CB1-B119-6AB9F2203F3A}" type="pres">
      <dgm:prSet presAssocID="{71FA2C6A-E7E1-4692-955C-FBA25159CA6F}" presName="childText" presStyleLbl="conFgAcc1" presStyleIdx="0" presStyleCnt="3">
        <dgm:presLayoutVars>
          <dgm:bulletEnabled val="1"/>
        </dgm:presLayoutVars>
      </dgm:prSet>
      <dgm:spPr/>
    </dgm:pt>
    <dgm:pt modelId="{2BF0BFF1-58DC-408B-9E8C-4AFF3198054C}" type="pres">
      <dgm:prSet presAssocID="{23E73C3C-9415-411E-BAB3-1C4D054BA01B}" presName="spaceBetweenRectangles" presStyleCnt="0"/>
      <dgm:spPr/>
    </dgm:pt>
    <dgm:pt modelId="{E075FC7E-BA62-4033-9FED-35F79C0AEEC1}" type="pres">
      <dgm:prSet presAssocID="{E8F77245-C19F-44D5-8FA5-81D54045C762}" presName="parentLin" presStyleCnt="0"/>
      <dgm:spPr/>
    </dgm:pt>
    <dgm:pt modelId="{1E95C182-BC9E-45F2-B3C8-2622D3466A44}" type="pres">
      <dgm:prSet presAssocID="{E8F77245-C19F-44D5-8FA5-81D54045C762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44D4C060-E7D2-4E33-8D83-BAE438DD0E07}" type="pres">
      <dgm:prSet presAssocID="{E8F77245-C19F-44D5-8FA5-81D54045C76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5DDB26-6C11-4E4B-858C-F08DBB98C446}" type="pres">
      <dgm:prSet presAssocID="{E8F77245-C19F-44D5-8FA5-81D54045C762}" presName="negativeSpace" presStyleCnt="0"/>
      <dgm:spPr/>
    </dgm:pt>
    <dgm:pt modelId="{0B81DCB6-55C1-48A8-8423-F57585208918}" type="pres">
      <dgm:prSet presAssocID="{E8F77245-C19F-44D5-8FA5-81D54045C762}" presName="childText" presStyleLbl="conFgAcc1" presStyleIdx="1" presStyleCnt="3">
        <dgm:presLayoutVars>
          <dgm:bulletEnabled val="1"/>
        </dgm:presLayoutVars>
      </dgm:prSet>
      <dgm:spPr/>
    </dgm:pt>
    <dgm:pt modelId="{76DE3FD2-14C8-462A-8C90-130A08BA0315}" type="pres">
      <dgm:prSet presAssocID="{D8CBBABB-FE3F-48E5-8213-F0F88CF02B09}" presName="spaceBetweenRectangles" presStyleCnt="0"/>
      <dgm:spPr/>
    </dgm:pt>
    <dgm:pt modelId="{66613570-3982-4BD8-8698-943CD5B30EE2}" type="pres">
      <dgm:prSet presAssocID="{53429C1F-671A-40C5-9E45-E97692BEFABE}" presName="parentLin" presStyleCnt="0"/>
      <dgm:spPr/>
    </dgm:pt>
    <dgm:pt modelId="{0EEB0E92-7C3E-4585-A5ED-A09C29277675}" type="pres">
      <dgm:prSet presAssocID="{53429C1F-671A-40C5-9E45-E97692BEFABE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4F564DA4-0A4F-428C-9493-7F9BEAA7F218}" type="pres">
      <dgm:prSet presAssocID="{53429C1F-671A-40C5-9E45-E97692BEFAB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1ABAD3-7433-40A8-BB5A-2C61E53F82AE}" type="pres">
      <dgm:prSet presAssocID="{53429C1F-671A-40C5-9E45-E97692BEFABE}" presName="negativeSpace" presStyleCnt="0"/>
      <dgm:spPr/>
    </dgm:pt>
    <dgm:pt modelId="{93DBBE16-48E9-4F74-A45E-395F6AB9C99A}" type="pres">
      <dgm:prSet presAssocID="{53429C1F-671A-40C5-9E45-E97692BEFA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E39C8E8-4643-468F-9FE5-14A2088CE5BE}" srcId="{7B473DC7-20A3-41D6-9FDD-CB4D7768C3BA}" destId="{71FA2C6A-E7E1-4692-955C-FBA25159CA6F}" srcOrd="0" destOrd="0" parTransId="{CBE5E8FF-5B41-43A7-B97C-7062C38640E5}" sibTransId="{23E73C3C-9415-411E-BAB3-1C4D054BA01B}"/>
    <dgm:cxn modelId="{19DC9335-8673-40F4-803D-2953B7D00139}" type="presOf" srcId="{E8F77245-C19F-44D5-8FA5-81D54045C762}" destId="{44D4C060-E7D2-4E33-8D83-BAE438DD0E07}" srcOrd="1" destOrd="0" presId="urn:microsoft.com/office/officeart/2005/8/layout/list1"/>
    <dgm:cxn modelId="{44EBB33A-90B4-476E-9E0D-C864D3A0D6EF}" type="presOf" srcId="{71FA2C6A-E7E1-4692-955C-FBA25159CA6F}" destId="{988AA50E-4A52-4CA9-BF16-7A8C17FB218E}" srcOrd="0" destOrd="0" presId="urn:microsoft.com/office/officeart/2005/8/layout/list1"/>
    <dgm:cxn modelId="{99689660-BB86-4668-9DB9-D1B799E202FE}" type="presOf" srcId="{53429C1F-671A-40C5-9E45-E97692BEFABE}" destId="{0EEB0E92-7C3E-4585-A5ED-A09C29277675}" srcOrd="0" destOrd="0" presId="urn:microsoft.com/office/officeart/2005/8/layout/list1"/>
    <dgm:cxn modelId="{310D38B6-3B48-4E52-8CB6-82D5DB4D291C}" type="presOf" srcId="{71FA2C6A-E7E1-4692-955C-FBA25159CA6F}" destId="{FC1E7AC7-61E7-4CED-BE23-153BF471C1A1}" srcOrd="1" destOrd="0" presId="urn:microsoft.com/office/officeart/2005/8/layout/list1"/>
    <dgm:cxn modelId="{B309672D-9892-440C-89DC-ACFF7C296F65}" type="presOf" srcId="{7B473DC7-20A3-41D6-9FDD-CB4D7768C3BA}" destId="{2C8A1412-40C0-46AD-A8E5-BC6587136BCA}" srcOrd="0" destOrd="0" presId="urn:microsoft.com/office/officeart/2005/8/layout/list1"/>
    <dgm:cxn modelId="{E9F8DE40-1C6B-4756-8D20-8CB3EDE7F165}" srcId="{7B473DC7-20A3-41D6-9FDD-CB4D7768C3BA}" destId="{53429C1F-671A-40C5-9E45-E97692BEFABE}" srcOrd="2" destOrd="0" parTransId="{72787C1D-D685-4DB4-ABD4-5F9C2C3C4B42}" sibTransId="{A560264D-E21E-4795-9FD7-A0CA81753BC5}"/>
    <dgm:cxn modelId="{1E2690C8-2DDA-49A4-B754-180573934134}" type="presOf" srcId="{E8F77245-C19F-44D5-8FA5-81D54045C762}" destId="{1E95C182-BC9E-45F2-B3C8-2622D3466A44}" srcOrd="0" destOrd="0" presId="urn:microsoft.com/office/officeart/2005/8/layout/list1"/>
    <dgm:cxn modelId="{9A73EFD7-5FF4-48FF-929E-C562BF5AD498}" srcId="{7B473DC7-20A3-41D6-9FDD-CB4D7768C3BA}" destId="{E8F77245-C19F-44D5-8FA5-81D54045C762}" srcOrd="1" destOrd="0" parTransId="{D703C355-60CC-49A5-BC70-79D951F8D6D3}" sibTransId="{D8CBBABB-FE3F-48E5-8213-F0F88CF02B09}"/>
    <dgm:cxn modelId="{111BBA8D-8AF1-4856-82D4-ABC1819D31B7}" type="presOf" srcId="{53429C1F-671A-40C5-9E45-E97692BEFABE}" destId="{4F564DA4-0A4F-428C-9493-7F9BEAA7F218}" srcOrd="1" destOrd="0" presId="urn:microsoft.com/office/officeart/2005/8/layout/list1"/>
    <dgm:cxn modelId="{7EE630FF-CAAE-426D-AAF2-605C8C1F3A49}" type="presParOf" srcId="{2C8A1412-40C0-46AD-A8E5-BC6587136BCA}" destId="{E730A510-5691-4996-B459-502ED97ECC14}" srcOrd="0" destOrd="0" presId="urn:microsoft.com/office/officeart/2005/8/layout/list1"/>
    <dgm:cxn modelId="{97D42937-E742-47C6-A2BB-8027B97411F8}" type="presParOf" srcId="{E730A510-5691-4996-B459-502ED97ECC14}" destId="{988AA50E-4A52-4CA9-BF16-7A8C17FB218E}" srcOrd="0" destOrd="0" presId="urn:microsoft.com/office/officeart/2005/8/layout/list1"/>
    <dgm:cxn modelId="{D8B1F0D2-9208-4A0A-A39B-346405942F48}" type="presParOf" srcId="{E730A510-5691-4996-B459-502ED97ECC14}" destId="{FC1E7AC7-61E7-4CED-BE23-153BF471C1A1}" srcOrd="1" destOrd="0" presId="urn:microsoft.com/office/officeart/2005/8/layout/list1"/>
    <dgm:cxn modelId="{F4DBFAAD-1E9D-44E7-814A-AAC9DA2FC411}" type="presParOf" srcId="{2C8A1412-40C0-46AD-A8E5-BC6587136BCA}" destId="{43732993-BA39-451A-A954-6D7C02AF3573}" srcOrd="1" destOrd="0" presId="urn:microsoft.com/office/officeart/2005/8/layout/list1"/>
    <dgm:cxn modelId="{7A262EBC-D639-4436-9306-9BD43D0409CB}" type="presParOf" srcId="{2C8A1412-40C0-46AD-A8E5-BC6587136BCA}" destId="{00500C71-C28B-4CB1-B119-6AB9F2203F3A}" srcOrd="2" destOrd="0" presId="urn:microsoft.com/office/officeart/2005/8/layout/list1"/>
    <dgm:cxn modelId="{0D75AC3A-DC86-4C69-8991-EB3135573CFB}" type="presParOf" srcId="{2C8A1412-40C0-46AD-A8E5-BC6587136BCA}" destId="{2BF0BFF1-58DC-408B-9E8C-4AFF3198054C}" srcOrd="3" destOrd="0" presId="urn:microsoft.com/office/officeart/2005/8/layout/list1"/>
    <dgm:cxn modelId="{69D9E69E-FD60-47BC-99E5-E1D3D3CC294E}" type="presParOf" srcId="{2C8A1412-40C0-46AD-A8E5-BC6587136BCA}" destId="{E075FC7E-BA62-4033-9FED-35F79C0AEEC1}" srcOrd="4" destOrd="0" presId="urn:microsoft.com/office/officeart/2005/8/layout/list1"/>
    <dgm:cxn modelId="{EA97760A-ABD0-4E9C-89CC-A7A9B35A6558}" type="presParOf" srcId="{E075FC7E-BA62-4033-9FED-35F79C0AEEC1}" destId="{1E95C182-BC9E-45F2-B3C8-2622D3466A44}" srcOrd="0" destOrd="0" presId="urn:microsoft.com/office/officeart/2005/8/layout/list1"/>
    <dgm:cxn modelId="{38CA2701-B968-4ED4-9F96-7FBA9624D3D0}" type="presParOf" srcId="{E075FC7E-BA62-4033-9FED-35F79C0AEEC1}" destId="{44D4C060-E7D2-4E33-8D83-BAE438DD0E07}" srcOrd="1" destOrd="0" presId="urn:microsoft.com/office/officeart/2005/8/layout/list1"/>
    <dgm:cxn modelId="{9868F4D7-BB9F-4665-BDD8-7668B9DCF482}" type="presParOf" srcId="{2C8A1412-40C0-46AD-A8E5-BC6587136BCA}" destId="{815DDB26-6C11-4E4B-858C-F08DBB98C446}" srcOrd="5" destOrd="0" presId="urn:microsoft.com/office/officeart/2005/8/layout/list1"/>
    <dgm:cxn modelId="{7C2CF4A2-32EB-4CE0-BE00-E85F6C8F94EB}" type="presParOf" srcId="{2C8A1412-40C0-46AD-A8E5-BC6587136BCA}" destId="{0B81DCB6-55C1-48A8-8423-F57585208918}" srcOrd="6" destOrd="0" presId="urn:microsoft.com/office/officeart/2005/8/layout/list1"/>
    <dgm:cxn modelId="{1526B4E5-0E5A-49DF-A172-FB4455E8EE70}" type="presParOf" srcId="{2C8A1412-40C0-46AD-A8E5-BC6587136BCA}" destId="{76DE3FD2-14C8-462A-8C90-130A08BA0315}" srcOrd="7" destOrd="0" presId="urn:microsoft.com/office/officeart/2005/8/layout/list1"/>
    <dgm:cxn modelId="{3A560488-E0FE-428B-A201-9F1D6D59FBB9}" type="presParOf" srcId="{2C8A1412-40C0-46AD-A8E5-BC6587136BCA}" destId="{66613570-3982-4BD8-8698-943CD5B30EE2}" srcOrd="8" destOrd="0" presId="urn:microsoft.com/office/officeart/2005/8/layout/list1"/>
    <dgm:cxn modelId="{A40266B6-63F3-46FB-AD64-AD71A982D513}" type="presParOf" srcId="{66613570-3982-4BD8-8698-943CD5B30EE2}" destId="{0EEB0E92-7C3E-4585-A5ED-A09C29277675}" srcOrd="0" destOrd="0" presId="urn:microsoft.com/office/officeart/2005/8/layout/list1"/>
    <dgm:cxn modelId="{40D54704-ACF7-4781-B000-514B5D1BBE07}" type="presParOf" srcId="{66613570-3982-4BD8-8698-943CD5B30EE2}" destId="{4F564DA4-0A4F-428C-9493-7F9BEAA7F218}" srcOrd="1" destOrd="0" presId="urn:microsoft.com/office/officeart/2005/8/layout/list1"/>
    <dgm:cxn modelId="{CEB39BAE-8320-4D8A-BB5B-9EABE58F90AD}" type="presParOf" srcId="{2C8A1412-40C0-46AD-A8E5-BC6587136BCA}" destId="{D81ABAD3-7433-40A8-BB5A-2C61E53F82AE}" srcOrd="9" destOrd="0" presId="urn:microsoft.com/office/officeart/2005/8/layout/list1"/>
    <dgm:cxn modelId="{0315A723-30E8-409B-AA44-0B6ACBA1FA46}" type="presParOf" srcId="{2C8A1412-40C0-46AD-A8E5-BC6587136BCA}" destId="{93DBBE16-48E9-4F74-A45E-395F6AB9C99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ABB68E-7462-4EAC-B7F4-310D44A93365}" type="doc">
      <dgm:prSet loTypeId="urn:microsoft.com/office/officeart/2005/8/layout/h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5220F2-787D-4104-AB4D-CFA6F2E059D8}">
      <dgm:prSet phldrT="[Text]"/>
      <dgm:spPr/>
      <dgm:t>
        <a:bodyPr/>
        <a:lstStyle/>
        <a:p>
          <a:r>
            <a:rPr lang="en-US" dirty="0" smtClean="0"/>
            <a:t>Sentiments</a:t>
          </a:r>
          <a:endParaRPr lang="en-US" dirty="0"/>
        </a:p>
      </dgm:t>
    </dgm:pt>
    <dgm:pt modelId="{5066B300-67CD-44B2-B20D-C49EDE69A6E3}" type="parTrans" cxnId="{21F32C8A-5A12-441C-A65C-39FF60271D0A}">
      <dgm:prSet/>
      <dgm:spPr/>
      <dgm:t>
        <a:bodyPr/>
        <a:lstStyle/>
        <a:p>
          <a:endParaRPr lang="en-US"/>
        </a:p>
      </dgm:t>
    </dgm:pt>
    <dgm:pt modelId="{FD2AA478-24A0-41C3-AE59-0F2FB8F7A165}" type="sibTrans" cxnId="{21F32C8A-5A12-441C-A65C-39FF60271D0A}">
      <dgm:prSet/>
      <dgm:spPr/>
      <dgm:t>
        <a:bodyPr/>
        <a:lstStyle/>
        <a:p>
          <a:endParaRPr lang="en-US"/>
        </a:p>
      </dgm:t>
    </dgm:pt>
    <dgm:pt modelId="{828078F0-6F3B-45FE-AD1C-C0120B3BAC86}">
      <dgm:prSet phldrT="[Text]"/>
      <dgm:spPr/>
      <dgm:t>
        <a:bodyPr/>
        <a:lstStyle/>
        <a:p>
          <a:pPr algn="ctr"/>
          <a:r>
            <a:rPr lang="en-US" b="1" dirty="0" smtClean="0"/>
            <a:t>Positive</a:t>
          </a:r>
        </a:p>
        <a:p>
          <a:pPr algn="l"/>
          <a:r>
            <a:rPr lang="en-US" dirty="0" smtClean="0"/>
            <a:t>Satisfaction</a:t>
          </a:r>
        </a:p>
        <a:p>
          <a:pPr algn="l"/>
          <a:r>
            <a:rPr lang="en-US" dirty="0" smtClean="0"/>
            <a:t>Appreciation for deals</a:t>
          </a:r>
        </a:p>
        <a:p>
          <a:pPr algn="l"/>
          <a:r>
            <a:rPr lang="en-US" dirty="0" smtClean="0"/>
            <a:t>Quality	</a:t>
          </a:r>
        </a:p>
        <a:p>
          <a:pPr algn="ctr"/>
          <a:endParaRPr lang="en-US" dirty="0" smtClean="0"/>
        </a:p>
        <a:p>
          <a:pPr algn="ctr"/>
          <a:endParaRPr lang="en-US" dirty="0"/>
        </a:p>
      </dgm:t>
    </dgm:pt>
    <dgm:pt modelId="{0863F1E3-2303-4C41-B840-DDF31D4E7784}" type="parTrans" cxnId="{72B3702A-9E7B-4E80-AAF2-FF6F8C581C82}">
      <dgm:prSet/>
      <dgm:spPr/>
      <dgm:t>
        <a:bodyPr/>
        <a:lstStyle/>
        <a:p>
          <a:endParaRPr lang="en-US"/>
        </a:p>
      </dgm:t>
    </dgm:pt>
    <dgm:pt modelId="{CC30187A-DE22-47CB-9C2C-0AAA6FFDFC4E}" type="sibTrans" cxnId="{72B3702A-9E7B-4E80-AAF2-FF6F8C581C82}">
      <dgm:prSet/>
      <dgm:spPr/>
      <dgm:t>
        <a:bodyPr/>
        <a:lstStyle/>
        <a:p>
          <a:endParaRPr lang="en-US"/>
        </a:p>
      </dgm:t>
    </dgm:pt>
    <dgm:pt modelId="{599EE894-F58F-4C23-A87C-CC033C747BEC}">
      <dgm:prSet phldrT="[Text]"/>
      <dgm:spPr/>
      <dgm:t>
        <a:bodyPr/>
        <a:lstStyle/>
        <a:p>
          <a:r>
            <a:rPr lang="en-US" b="1" dirty="0" smtClean="0"/>
            <a:t>Neutral</a:t>
          </a:r>
        </a:p>
        <a:p>
          <a:r>
            <a:rPr lang="en-US" dirty="0" smtClean="0"/>
            <a:t>Average Experience	</a:t>
          </a:r>
          <a:endParaRPr lang="en-US" dirty="0"/>
        </a:p>
      </dgm:t>
    </dgm:pt>
    <dgm:pt modelId="{D0CC2CAA-5628-4D7C-BCB2-171A8CD225C1}" type="parTrans" cxnId="{FA709970-D852-432C-905F-ADC1519F3148}">
      <dgm:prSet/>
      <dgm:spPr/>
      <dgm:t>
        <a:bodyPr/>
        <a:lstStyle/>
        <a:p>
          <a:endParaRPr lang="en-US"/>
        </a:p>
      </dgm:t>
    </dgm:pt>
    <dgm:pt modelId="{68A9DCAA-EDA6-45DD-A966-670FA3CA9F75}" type="sibTrans" cxnId="{FA709970-D852-432C-905F-ADC1519F3148}">
      <dgm:prSet/>
      <dgm:spPr/>
      <dgm:t>
        <a:bodyPr/>
        <a:lstStyle/>
        <a:p>
          <a:endParaRPr lang="en-US"/>
        </a:p>
      </dgm:t>
    </dgm:pt>
    <dgm:pt modelId="{D8C6CD3B-0B25-4E24-B0D5-61902F13FF39}">
      <dgm:prSet phldrT="[Text]"/>
      <dgm:spPr/>
      <dgm:t>
        <a:bodyPr/>
        <a:lstStyle/>
        <a:p>
          <a:r>
            <a:rPr lang="en-US" b="1" dirty="0" smtClean="0"/>
            <a:t>Negative</a:t>
          </a:r>
        </a:p>
        <a:p>
          <a:r>
            <a:rPr lang="en-US" dirty="0" smtClean="0"/>
            <a:t>Customer Service issues</a:t>
          </a:r>
        </a:p>
        <a:p>
          <a:r>
            <a:rPr lang="en-US" dirty="0" smtClean="0"/>
            <a:t>Quality concerns</a:t>
          </a:r>
        </a:p>
        <a:p>
          <a:r>
            <a:rPr lang="en-US" dirty="0" smtClean="0"/>
            <a:t>Delivery Problems</a:t>
          </a:r>
          <a:endParaRPr lang="en-US" dirty="0"/>
        </a:p>
      </dgm:t>
    </dgm:pt>
    <dgm:pt modelId="{3EB7E60B-145D-4B37-9EE4-D41B25D24371}" type="parTrans" cxnId="{F4DB2011-3107-4C68-A05C-65F3213AA678}">
      <dgm:prSet/>
      <dgm:spPr/>
      <dgm:t>
        <a:bodyPr/>
        <a:lstStyle/>
        <a:p>
          <a:endParaRPr lang="en-US"/>
        </a:p>
      </dgm:t>
    </dgm:pt>
    <dgm:pt modelId="{377BB10E-B035-4AE8-BC68-FBAA0D4F254A}" type="sibTrans" cxnId="{F4DB2011-3107-4C68-A05C-65F3213AA678}">
      <dgm:prSet/>
      <dgm:spPr/>
      <dgm:t>
        <a:bodyPr/>
        <a:lstStyle/>
        <a:p>
          <a:endParaRPr lang="en-US"/>
        </a:p>
      </dgm:t>
    </dgm:pt>
    <dgm:pt modelId="{AEC10ECF-97EA-4014-8410-B6EEEDB19BA4}" type="pres">
      <dgm:prSet presAssocID="{14ABB68E-7462-4EAC-B7F4-310D44A93365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E726540-0EC4-4540-9D85-76FA0EAF4D4B}" type="pres">
      <dgm:prSet presAssocID="{AB5220F2-787D-4104-AB4D-CFA6F2E059D8}" presName="roof" presStyleLbl="dkBgShp" presStyleIdx="0" presStyleCnt="2" custAng="0" custScaleY="82645" custLinFactNeighborX="17161" custLinFactNeighborY="-22881"/>
      <dgm:spPr/>
      <dgm:t>
        <a:bodyPr/>
        <a:lstStyle/>
        <a:p>
          <a:endParaRPr lang="en-US"/>
        </a:p>
      </dgm:t>
    </dgm:pt>
    <dgm:pt modelId="{7BEFF87F-CA34-440D-B002-59DAFE0BC397}" type="pres">
      <dgm:prSet presAssocID="{AB5220F2-787D-4104-AB4D-CFA6F2E059D8}" presName="pillars" presStyleCnt="0"/>
      <dgm:spPr/>
    </dgm:pt>
    <dgm:pt modelId="{F0EDB4DC-1F71-49F6-83A2-5F0665A8D6A3}" type="pres">
      <dgm:prSet presAssocID="{AB5220F2-787D-4104-AB4D-CFA6F2E059D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8BFFC8-B109-42E5-9CE2-BEA821B4A609}" type="pres">
      <dgm:prSet presAssocID="{599EE894-F58F-4C23-A87C-CC033C747BEC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9C8296-4C81-489A-9401-3CB8BBC34D2D}" type="pres">
      <dgm:prSet presAssocID="{D8C6CD3B-0B25-4E24-B0D5-61902F13FF39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14F5C9-58DC-44AA-BC01-DBF6BED7E771}" type="pres">
      <dgm:prSet presAssocID="{AB5220F2-787D-4104-AB4D-CFA6F2E059D8}" presName="base" presStyleLbl="dkBgShp" presStyleIdx="1" presStyleCnt="2"/>
      <dgm:spPr/>
    </dgm:pt>
  </dgm:ptLst>
  <dgm:cxnLst>
    <dgm:cxn modelId="{E21F9FF1-491F-47F9-8425-3FD5348714E6}" type="presOf" srcId="{14ABB68E-7462-4EAC-B7F4-310D44A93365}" destId="{AEC10ECF-97EA-4014-8410-B6EEEDB19BA4}" srcOrd="0" destOrd="0" presId="urn:microsoft.com/office/officeart/2005/8/layout/hList3"/>
    <dgm:cxn modelId="{72B3702A-9E7B-4E80-AAF2-FF6F8C581C82}" srcId="{AB5220F2-787D-4104-AB4D-CFA6F2E059D8}" destId="{828078F0-6F3B-45FE-AD1C-C0120B3BAC86}" srcOrd="0" destOrd="0" parTransId="{0863F1E3-2303-4C41-B840-DDF31D4E7784}" sibTransId="{CC30187A-DE22-47CB-9C2C-0AAA6FFDFC4E}"/>
    <dgm:cxn modelId="{C7A571DE-270D-4D1D-803E-AD023125EA54}" type="presOf" srcId="{599EE894-F58F-4C23-A87C-CC033C747BEC}" destId="{7E8BFFC8-B109-42E5-9CE2-BEA821B4A609}" srcOrd="0" destOrd="0" presId="urn:microsoft.com/office/officeart/2005/8/layout/hList3"/>
    <dgm:cxn modelId="{653F2B5E-86AE-4EF2-842F-432D767723AC}" type="presOf" srcId="{828078F0-6F3B-45FE-AD1C-C0120B3BAC86}" destId="{F0EDB4DC-1F71-49F6-83A2-5F0665A8D6A3}" srcOrd="0" destOrd="0" presId="urn:microsoft.com/office/officeart/2005/8/layout/hList3"/>
    <dgm:cxn modelId="{5320D31C-1159-499D-879E-C5DC95B1E959}" type="presOf" srcId="{AB5220F2-787D-4104-AB4D-CFA6F2E059D8}" destId="{3E726540-0EC4-4540-9D85-76FA0EAF4D4B}" srcOrd="0" destOrd="0" presId="urn:microsoft.com/office/officeart/2005/8/layout/hList3"/>
    <dgm:cxn modelId="{FA709970-D852-432C-905F-ADC1519F3148}" srcId="{AB5220F2-787D-4104-AB4D-CFA6F2E059D8}" destId="{599EE894-F58F-4C23-A87C-CC033C747BEC}" srcOrd="1" destOrd="0" parTransId="{D0CC2CAA-5628-4D7C-BCB2-171A8CD225C1}" sibTransId="{68A9DCAA-EDA6-45DD-A966-670FA3CA9F75}"/>
    <dgm:cxn modelId="{8AFB6C7A-9FF4-47B7-A0D6-A4879DA6DC9A}" type="presOf" srcId="{D8C6CD3B-0B25-4E24-B0D5-61902F13FF39}" destId="{FF9C8296-4C81-489A-9401-3CB8BBC34D2D}" srcOrd="0" destOrd="0" presId="urn:microsoft.com/office/officeart/2005/8/layout/hList3"/>
    <dgm:cxn modelId="{21F32C8A-5A12-441C-A65C-39FF60271D0A}" srcId="{14ABB68E-7462-4EAC-B7F4-310D44A93365}" destId="{AB5220F2-787D-4104-AB4D-CFA6F2E059D8}" srcOrd="0" destOrd="0" parTransId="{5066B300-67CD-44B2-B20D-C49EDE69A6E3}" sibTransId="{FD2AA478-24A0-41C3-AE59-0F2FB8F7A165}"/>
    <dgm:cxn modelId="{F4DB2011-3107-4C68-A05C-65F3213AA678}" srcId="{AB5220F2-787D-4104-AB4D-CFA6F2E059D8}" destId="{D8C6CD3B-0B25-4E24-B0D5-61902F13FF39}" srcOrd="2" destOrd="0" parTransId="{3EB7E60B-145D-4B37-9EE4-D41B25D24371}" sibTransId="{377BB10E-B035-4AE8-BC68-FBAA0D4F254A}"/>
    <dgm:cxn modelId="{445F10DC-C04B-4FD8-B1BE-691BD7A761A7}" type="presParOf" srcId="{AEC10ECF-97EA-4014-8410-B6EEEDB19BA4}" destId="{3E726540-0EC4-4540-9D85-76FA0EAF4D4B}" srcOrd="0" destOrd="0" presId="urn:microsoft.com/office/officeart/2005/8/layout/hList3"/>
    <dgm:cxn modelId="{CE2F655C-3DBC-4CB5-B4E2-99FA245FC618}" type="presParOf" srcId="{AEC10ECF-97EA-4014-8410-B6EEEDB19BA4}" destId="{7BEFF87F-CA34-440D-B002-59DAFE0BC397}" srcOrd="1" destOrd="0" presId="urn:microsoft.com/office/officeart/2005/8/layout/hList3"/>
    <dgm:cxn modelId="{CB34BA85-B75F-40D6-AB2E-A5D8EB00EA63}" type="presParOf" srcId="{7BEFF87F-CA34-440D-B002-59DAFE0BC397}" destId="{F0EDB4DC-1F71-49F6-83A2-5F0665A8D6A3}" srcOrd="0" destOrd="0" presId="urn:microsoft.com/office/officeart/2005/8/layout/hList3"/>
    <dgm:cxn modelId="{15EDC71B-2603-4322-85E4-360429D9E65B}" type="presParOf" srcId="{7BEFF87F-CA34-440D-B002-59DAFE0BC397}" destId="{7E8BFFC8-B109-42E5-9CE2-BEA821B4A609}" srcOrd="1" destOrd="0" presId="urn:microsoft.com/office/officeart/2005/8/layout/hList3"/>
    <dgm:cxn modelId="{0F3250EF-77DD-432F-98D3-FDDAFB84914A}" type="presParOf" srcId="{7BEFF87F-CA34-440D-B002-59DAFE0BC397}" destId="{FF9C8296-4C81-489A-9401-3CB8BBC34D2D}" srcOrd="2" destOrd="0" presId="urn:microsoft.com/office/officeart/2005/8/layout/hList3"/>
    <dgm:cxn modelId="{CC7CBE44-A040-4CA5-BE0B-374AA933BC31}" type="presParOf" srcId="{AEC10ECF-97EA-4014-8410-B6EEEDB19BA4}" destId="{C314F5C9-58DC-44AA-BC01-DBF6BED7E77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F05939-EEDC-4B07-84A8-887514EDFE58}" type="doc">
      <dgm:prSet loTypeId="urn:microsoft.com/office/officeart/2005/8/layout/defaul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174F5E-ECBE-44E5-A888-C66DCA119DF4}">
      <dgm:prSet phldrT="[Text]" custT="1"/>
      <dgm:spPr/>
      <dgm:t>
        <a:bodyPr/>
        <a:lstStyle/>
        <a:p>
          <a:pPr algn="l"/>
          <a:r>
            <a:rPr lang="en-IN" sz="1400" b="1" dirty="0" smtClean="0"/>
            <a:t>Product Range :</a:t>
          </a:r>
        </a:p>
        <a:p>
          <a:pPr algn="l"/>
          <a:r>
            <a:rPr lang="en-US" sz="1400" b="1" dirty="0" smtClean="0"/>
            <a:t>Amazon fashion and Flipkart offer extensive variety, while Myntra and Ajio specialize in Fashion</a:t>
          </a:r>
          <a:endParaRPr lang="en-IN" sz="1400" b="1" dirty="0" smtClean="0"/>
        </a:p>
        <a:p>
          <a:pPr algn="l"/>
          <a:endParaRPr lang="en-IN" sz="1400" b="1" dirty="0" smtClean="0"/>
        </a:p>
        <a:p>
          <a:pPr algn="l"/>
          <a:endParaRPr lang="en-US" sz="1400" dirty="0"/>
        </a:p>
      </dgm:t>
    </dgm:pt>
    <dgm:pt modelId="{C20E39D1-F6D9-45FB-829C-6B7DB3DD0176}" type="parTrans" cxnId="{765858EA-8370-4F24-A095-63F07C0EAD71}">
      <dgm:prSet/>
      <dgm:spPr/>
      <dgm:t>
        <a:bodyPr/>
        <a:lstStyle/>
        <a:p>
          <a:endParaRPr lang="en-US"/>
        </a:p>
      </dgm:t>
    </dgm:pt>
    <dgm:pt modelId="{E13104C8-7492-4435-A63C-D596E2F0E7A8}" type="sibTrans" cxnId="{765858EA-8370-4F24-A095-63F07C0EAD71}">
      <dgm:prSet/>
      <dgm:spPr/>
      <dgm:t>
        <a:bodyPr/>
        <a:lstStyle/>
        <a:p>
          <a:endParaRPr lang="en-US"/>
        </a:p>
      </dgm:t>
    </dgm:pt>
    <dgm:pt modelId="{852BE57F-EBD5-447C-AAA2-E12245563F70}">
      <dgm:prSet phldrT="[Text]" custT="1"/>
      <dgm:spPr/>
      <dgm:t>
        <a:bodyPr/>
        <a:lstStyle/>
        <a:p>
          <a:pPr algn="l"/>
          <a:r>
            <a:rPr lang="en-IN" sz="1400" b="1" dirty="0" smtClean="0"/>
            <a:t>Pricing Strategy :</a:t>
          </a:r>
        </a:p>
        <a:p>
          <a:pPr algn="l"/>
          <a:r>
            <a:rPr lang="en-US" sz="1400" b="1" dirty="0" smtClean="0"/>
            <a:t>Amazon fashion  and Flipkart use competitive pricing strategies, while Myntra and Ajio target fashion-specific pricing.</a:t>
          </a:r>
          <a:endParaRPr lang="en-US" sz="1400" dirty="0"/>
        </a:p>
      </dgm:t>
    </dgm:pt>
    <dgm:pt modelId="{E1564D7B-487F-4E91-BF62-D44DDC69295B}" type="parTrans" cxnId="{179D1438-3571-441A-9DE5-A02B62C08113}">
      <dgm:prSet/>
      <dgm:spPr/>
      <dgm:t>
        <a:bodyPr/>
        <a:lstStyle/>
        <a:p>
          <a:endParaRPr lang="en-US"/>
        </a:p>
      </dgm:t>
    </dgm:pt>
    <dgm:pt modelId="{A7132C91-A9CB-4994-B0F4-34D0232F7131}" type="sibTrans" cxnId="{179D1438-3571-441A-9DE5-A02B62C08113}">
      <dgm:prSet/>
      <dgm:spPr/>
      <dgm:t>
        <a:bodyPr/>
        <a:lstStyle/>
        <a:p>
          <a:endParaRPr lang="en-US"/>
        </a:p>
      </dgm:t>
    </dgm:pt>
    <dgm:pt modelId="{5C7ACA61-5680-4DBD-995B-A92DE1BB4A89}">
      <dgm:prSet phldrT="[Text]" custT="1"/>
      <dgm:spPr/>
      <dgm:t>
        <a:bodyPr/>
        <a:lstStyle/>
        <a:p>
          <a:pPr algn="l"/>
          <a:r>
            <a:rPr lang="en-US" sz="1400" b="1" dirty="0" smtClean="0"/>
            <a:t>Customer Satisfaction:</a:t>
          </a:r>
        </a:p>
        <a:p>
          <a:pPr algn="l"/>
          <a:r>
            <a:rPr lang="en-US" sz="1400" b="1" dirty="0" smtClean="0"/>
            <a:t>All platforms show strengths, with Myntra and Ajio excelling in fashion, and Amazon and Flipkart maintaining high standards across broader categories.</a:t>
          </a:r>
          <a:endParaRPr lang="en-US" sz="1400" dirty="0"/>
        </a:p>
      </dgm:t>
    </dgm:pt>
    <dgm:pt modelId="{8CADEBC3-1974-4836-ABE9-E5223D9F021E}" type="parTrans" cxnId="{FD4B4BFD-CC3B-41F1-B4BE-62CBB1A7CA9B}">
      <dgm:prSet/>
      <dgm:spPr/>
      <dgm:t>
        <a:bodyPr/>
        <a:lstStyle/>
        <a:p>
          <a:endParaRPr lang="en-US"/>
        </a:p>
      </dgm:t>
    </dgm:pt>
    <dgm:pt modelId="{9DB64DCC-2763-493E-9294-E8A4EFBC5B23}" type="sibTrans" cxnId="{FD4B4BFD-CC3B-41F1-B4BE-62CBB1A7CA9B}">
      <dgm:prSet/>
      <dgm:spPr/>
      <dgm:t>
        <a:bodyPr/>
        <a:lstStyle/>
        <a:p>
          <a:endParaRPr lang="en-US"/>
        </a:p>
      </dgm:t>
    </dgm:pt>
    <dgm:pt modelId="{9FA6D292-1B34-4520-9DEB-CA01DB6E6B59}">
      <dgm:prSet phldrT="[Text]" custT="1"/>
      <dgm:spPr/>
      <dgm:t>
        <a:bodyPr/>
        <a:lstStyle/>
        <a:p>
          <a:pPr algn="l"/>
          <a:r>
            <a:rPr lang="en-US" sz="1400" b="1" dirty="0" smtClean="0"/>
            <a:t>Social Media Presence :</a:t>
          </a:r>
        </a:p>
        <a:p>
          <a:pPr algn="l"/>
          <a:r>
            <a:rPr lang="en-US" sz="1400" b="1" dirty="0" smtClean="0"/>
            <a:t>All four platforms leverage social media effectively, with Myntra and Ajio focusing on fashion content and Amazon and Flipkart adopting broader engagement strategies.</a:t>
          </a:r>
          <a:endParaRPr lang="en-US" sz="1400" dirty="0"/>
        </a:p>
      </dgm:t>
    </dgm:pt>
    <dgm:pt modelId="{3550734B-468F-4578-9761-E3050265E9A8}" type="parTrans" cxnId="{CE619E68-468F-4678-9A38-3C116B60F921}">
      <dgm:prSet/>
      <dgm:spPr/>
      <dgm:t>
        <a:bodyPr/>
        <a:lstStyle/>
        <a:p>
          <a:endParaRPr lang="en-US"/>
        </a:p>
      </dgm:t>
    </dgm:pt>
    <dgm:pt modelId="{9C4C1B95-31EA-4675-917E-CE4FFBFDF125}" type="sibTrans" cxnId="{CE619E68-468F-4678-9A38-3C116B60F921}">
      <dgm:prSet/>
      <dgm:spPr/>
      <dgm:t>
        <a:bodyPr/>
        <a:lstStyle/>
        <a:p>
          <a:endParaRPr lang="en-US"/>
        </a:p>
      </dgm:t>
    </dgm:pt>
    <dgm:pt modelId="{448C2C8A-D521-4633-B859-14A2D305FBE0}" type="pres">
      <dgm:prSet presAssocID="{94F05939-EEDC-4B07-84A8-887514EDFE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43DAE5D-0E06-4E3D-A313-7558B8F493D1}" type="pres">
      <dgm:prSet presAssocID="{80174F5E-ECBE-44E5-A888-C66DCA119DF4}" presName="node" presStyleLbl="node1" presStyleIdx="0" presStyleCnt="4" custLinFactNeighborX="275" custLinFactNeighborY="-7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6B63A3-98D5-4791-B414-C515A7B34D9E}" type="pres">
      <dgm:prSet presAssocID="{E13104C8-7492-4435-A63C-D596E2F0E7A8}" presName="sibTrans" presStyleCnt="0"/>
      <dgm:spPr/>
    </dgm:pt>
    <dgm:pt modelId="{7BD4F6F0-529C-4607-8F2E-7043918B9A62}" type="pres">
      <dgm:prSet presAssocID="{852BE57F-EBD5-447C-AAA2-E12245563F7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3A5B46-771D-4658-BA10-4F93B43F3F91}" type="pres">
      <dgm:prSet presAssocID="{A7132C91-A9CB-4994-B0F4-34D0232F7131}" presName="sibTrans" presStyleCnt="0"/>
      <dgm:spPr/>
    </dgm:pt>
    <dgm:pt modelId="{30B13D57-800F-4FDE-B6C8-52C1083D9325}" type="pres">
      <dgm:prSet presAssocID="{5C7ACA61-5680-4DBD-995B-A92DE1BB4A8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CC0A10-7130-42E2-9008-1D83E9300646}" type="pres">
      <dgm:prSet presAssocID="{9DB64DCC-2763-493E-9294-E8A4EFBC5B23}" presName="sibTrans" presStyleCnt="0"/>
      <dgm:spPr/>
    </dgm:pt>
    <dgm:pt modelId="{24823144-DC6B-44B6-948C-68FCB2630470}" type="pres">
      <dgm:prSet presAssocID="{9FA6D292-1B34-4520-9DEB-CA01DB6E6B5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619E68-468F-4678-9A38-3C116B60F921}" srcId="{94F05939-EEDC-4B07-84A8-887514EDFE58}" destId="{9FA6D292-1B34-4520-9DEB-CA01DB6E6B59}" srcOrd="3" destOrd="0" parTransId="{3550734B-468F-4578-9761-E3050265E9A8}" sibTransId="{9C4C1B95-31EA-4675-917E-CE4FFBFDF125}"/>
    <dgm:cxn modelId="{8580A272-1773-4CB5-BEBD-9936690F14D0}" type="presOf" srcId="{94F05939-EEDC-4B07-84A8-887514EDFE58}" destId="{448C2C8A-D521-4633-B859-14A2D305FBE0}" srcOrd="0" destOrd="0" presId="urn:microsoft.com/office/officeart/2005/8/layout/default"/>
    <dgm:cxn modelId="{765858EA-8370-4F24-A095-63F07C0EAD71}" srcId="{94F05939-EEDC-4B07-84A8-887514EDFE58}" destId="{80174F5E-ECBE-44E5-A888-C66DCA119DF4}" srcOrd="0" destOrd="0" parTransId="{C20E39D1-F6D9-45FB-829C-6B7DB3DD0176}" sibTransId="{E13104C8-7492-4435-A63C-D596E2F0E7A8}"/>
    <dgm:cxn modelId="{B3F3E158-F964-4139-9A4A-2F588D9EE762}" type="presOf" srcId="{80174F5E-ECBE-44E5-A888-C66DCA119DF4}" destId="{D43DAE5D-0E06-4E3D-A313-7558B8F493D1}" srcOrd="0" destOrd="0" presId="urn:microsoft.com/office/officeart/2005/8/layout/default"/>
    <dgm:cxn modelId="{900959DD-A68C-4846-BD37-465BB1BD8118}" type="presOf" srcId="{5C7ACA61-5680-4DBD-995B-A92DE1BB4A89}" destId="{30B13D57-800F-4FDE-B6C8-52C1083D9325}" srcOrd="0" destOrd="0" presId="urn:microsoft.com/office/officeart/2005/8/layout/default"/>
    <dgm:cxn modelId="{CDCC7032-8979-4D88-90AF-8F660665B263}" type="presOf" srcId="{9FA6D292-1B34-4520-9DEB-CA01DB6E6B59}" destId="{24823144-DC6B-44B6-948C-68FCB2630470}" srcOrd="0" destOrd="0" presId="urn:microsoft.com/office/officeart/2005/8/layout/default"/>
    <dgm:cxn modelId="{179D1438-3571-441A-9DE5-A02B62C08113}" srcId="{94F05939-EEDC-4B07-84A8-887514EDFE58}" destId="{852BE57F-EBD5-447C-AAA2-E12245563F70}" srcOrd="1" destOrd="0" parTransId="{E1564D7B-487F-4E91-BF62-D44DDC69295B}" sibTransId="{A7132C91-A9CB-4994-B0F4-34D0232F7131}"/>
    <dgm:cxn modelId="{EFCA0DAE-C321-4BBD-B6F6-B7B0F44D0335}" type="presOf" srcId="{852BE57F-EBD5-447C-AAA2-E12245563F70}" destId="{7BD4F6F0-529C-4607-8F2E-7043918B9A62}" srcOrd="0" destOrd="0" presId="urn:microsoft.com/office/officeart/2005/8/layout/default"/>
    <dgm:cxn modelId="{FD4B4BFD-CC3B-41F1-B4BE-62CBB1A7CA9B}" srcId="{94F05939-EEDC-4B07-84A8-887514EDFE58}" destId="{5C7ACA61-5680-4DBD-995B-A92DE1BB4A89}" srcOrd="2" destOrd="0" parTransId="{8CADEBC3-1974-4836-ABE9-E5223D9F021E}" sibTransId="{9DB64DCC-2763-493E-9294-E8A4EFBC5B23}"/>
    <dgm:cxn modelId="{784A6291-5D75-4699-8031-F9738315F570}" type="presParOf" srcId="{448C2C8A-D521-4633-B859-14A2D305FBE0}" destId="{D43DAE5D-0E06-4E3D-A313-7558B8F493D1}" srcOrd="0" destOrd="0" presId="urn:microsoft.com/office/officeart/2005/8/layout/default"/>
    <dgm:cxn modelId="{73E2692D-5588-4A22-B1DD-FBE2E3DE71B2}" type="presParOf" srcId="{448C2C8A-D521-4633-B859-14A2D305FBE0}" destId="{366B63A3-98D5-4791-B414-C515A7B34D9E}" srcOrd="1" destOrd="0" presId="urn:microsoft.com/office/officeart/2005/8/layout/default"/>
    <dgm:cxn modelId="{A88733CB-B536-4C54-BE5F-D4C0D1B46A44}" type="presParOf" srcId="{448C2C8A-D521-4633-B859-14A2D305FBE0}" destId="{7BD4F6F0-529C-4607-8F2E-7043918B9A62}" srcOrd="2" destOrd="0" presId="urn:microsoft.com/office/officeart/2005/8/layout/default"/>
    <dgm:cxn modelId="{E8A191A2-4964-4342-8C3B-F4D1E7CF7451}" type="presParOf" srcId="{448C2C8A-D521-4633-B859-14A2D305FBE0}" destId="{973A5B46-771D-4658-BA10-4F93B43F3F91}" srcOrd="3" destOrd="0" presId="urn:microsoft.com/office/officeart/2005/8/layout/default"/>
    <dgm:cxn modelId="{C285172F-0385-4ACC-B153-A4CEF8756309}" type="presParOf" srcId="{448C2C8A-D521-4633-B859-14A2D305FBE0}" destId="{30B13D57-800F-4FDE-B6C8-52C1083D9325}" srcOrd="4" destOrd="0" presId="urn:microsoft.com/office/officeart/2005/8/layout/default"/>
    <dgm:cxn modelId="{83126B15-9464-4F91-BCB3-13F05DA62F1C}" type="presParOf" srcId="{448C2C8A-D521-4633-B859-14A2D305FBE0}" destId="{09CC0A10-7130-42E2-9008-1D83E9300646}" srcOrd="5" destOrd="0" presId="urn:microsoft.com/office/officeart/2005/8/layout/default"/>
    <dgm:cxn modelId="{875EC22B-B053-4A42-8218-89986D662CC9}" type="presParOf" srcId="{448C2C8A-D521-4633-B859-14A2D305FBE0}" destId="{24823144-DC6B-44B6-948C-68FCB263047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CB982-A08A-4AA6-B575-AAB59660BB69}">
      <dsp:nvSpPr>
        <dsp:cNvPr id="0" name=""/>
        <dsp:cNvSpPr/>
      </dsp:nvSpPr>
      <dsp:spPr>
        <a:xfrm>
          <a:off x="615" y="80030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Segmentation</a:t>
          </a:r>
          <a:endParaRPr lang="en-US" sz="2800" kern="1200" dirty="0"/>
        </a:p>
      </dsp:txBody>
      <dsp:txXfrm rot="16200000">
        <a:off x="-1037070" y="1837994"/>
        <a:ext cx="2604801" cy="529431"/>
      </dsp:txXfrm>
    </dsp:sp>
    <dsp:sp modelId="{06D40048-B5F4-40A1-BC57-5D1D95802710}">
      <dsp:nvSpPr>
        <dsp:cNvPr id="0" name=""/>
        <dsp:cNvSpPr/>
      </dsp:nvSpPr>
      <dsp:spPr>
        <a:xfrm>
          <a:off x="530046" y="800309"/>
          <a:ext cx="1972131" cy="31765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Myntra focuses on Fashion-conscious customers who believe in shopping from home irrespective of age and gender.</a:t>
          </a:r>
          <a:endParaRPr lang="en-US" sz="1800" kern="1200" dirty="0"/>
        </a:p>
      </dsp:txBody>
      <dsp:txXfrm>
        <a:off x="530046" y="800309"/>
        <a:ext cx="1972131" cy="3176587"/>
      </dsp:txXfrm>
    </dsp:sp>
    <dsp:sp modelId="{B95FDFC7-F14B-4882-B104-A8805C59468A}">
      <dsp:nvSpPr>
        <dsp:cNvPr id="0" name=""/>
        <dsp:cNvSpPr/>
      </dsp:nvSpPr>
      <dsp:spPr>
        <a:xfrm>
          <a:off x="2740421" y="80030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Target Market </a:t>
          </a:r>
          <a:endParaRPr lang="en-US" sz="2800" kern="1200" dirty="0"/>
        </a:p>
      </dsp:txBody>
      <dsp:txXfrm rot="16200000">
        <a:off x="1702736" y="1837994"/>
        <a:ext cx="2604801" cy="529431"/>
      </dsp:txXfrm>
    </dsp:sp>
    <dsp:sp modelId="{204ED50B-63DA-4FAE-882E-2265068FA7DC}">
      <dsp:nvSpPr>
        <dsp:cNvPr id="0" name=""/>
        <dsp:cNvSpPr/>
      </dsp:nvSpPr>
      <dsp:spPr>
        <a:xfrm rot="5400000">
          <a:off x="2520416" y="3322924"/>
          <a:ext cx="466483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 z="57150" extrusionH="12700" prstMaterial="flat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513EF8-052A-48A2-AF1C-501BAF263154}">
      <dsp:nvSpPr>
        <dsp:cNvPr id="0" name=""/>
        <dsp:cNvSpPr/>
      </dsp:nvSpPr>
      <dsp:spPr>
        <a:xfrm>
          <a:off x="3269853" y="800309"/>
          <a:ext cx="1972131" cy="31765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The Target Market set by this brand is Fashion conscious ,medium income ,young online shoppers looking for the best deals and good quality products.</a:t>
          </a:r>
          <a:endParaRPr lang="en-US" sz="1800" kern="1200" dirty="0"/>
        </a:p>
      </dsp:txBody>
      <dsp:txXfrm>
        <a:off x="3269853" y="800309"/>
        <a:ext cx="1972131" cy="3176587"/>
      </dsp:txXfrm>
    </dsp:sp>
    <dsp:sp modelId="{FA4D945B-DD30-4DCE-83D2-434F43775C80}">
      <dsp:nvSpPr>
        <dsp:cNvPr id="0" name=""/>
        <dsp:cNvSpPr/>
      </dsp:nvSpPr>
      <dsp:spPr>
        <a:xfrm>
          <a:off x="5480228" y="800309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Positioning</a:t>
          </a:r>
          <a:endParaRPr lang="en-US" sz="2800" kern="1200" dirty="0"/>
        </a:p>
      </dsp:txBody>
      <dsp:txXfrm rot="16200000">
        <a:off x="4442543" y="1837994"/>
        <a:ext cx="2604801" cy="529431"/>
      </dsp:txXfrm>
    </dsp:sp>
    <dsp:sp modelId="{2E49409D-1441-4200-A930-635041E47746}">
      <dsp:nvSpPr>
        <dsp:cNvPr id="0" name=""/>
        <dsp:cNvSpPr/>
      </dsp:nvSpPr>
      <dsp:spPr>
        <a:xfrm rot="5400000">
          <a:off x="5260222" y="3322924"/>
          <a:ext cx="466483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threePt" dir="t"/>
        </a:scene3d>
        <a:sp3d z="57150" extrusionH="12700" prstMaterial="flat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561FD8-2B9C-4510-8DBB-DAFA02131124}">
      <dsp:nvSpPr>
        <dsp:cNvPr id="0" name=""/>
        <dsp:cNvSpPr/>
      </dsp:nvSpPr>
      <dsp:spPr>
        <a:xfrm>
          <a:off x="6009659" y="800309"/>
          <a:ext cx="1972131" cy="31765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Myntra is an e-commerce website that focuses on creating vibrant fashion stores at affordable rates all over India</a:t>
          </a:r>
          <a:endParaRPr lang="en-US" sz="1800" kern="1200" dirty="0"/>
        </a:p>
      </dsp:txBody>
      <dsp:txXfrm>
        <a:off x="6009659" y="800309"/>
        <a:ext cx="1972131" cy="3176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00C71-C28B-4CB1-B119-6AB9F2203F3A}">
      <dsp:nvSpPr>
        <dsp:cNvPr id="0" name=""/>
        <dsp:cNvSpPr/>
      </dsp:nvSpPr>
      <dsp:spPr>
        <a:xfrm>
          <a:off x="0" y="560360"/>
          <a:ext cx="52578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E7AC7-61E7-4CED-BE23-153BF471C1A1}">
      <dsp:nvSpPr>
        <dsp:cNvPr id="0" name=""/>
        <dsp:cNvSpPr/>
      </dsp:nvSpPr>
      <dsp:spPr>
        <a:xfrm>
          <a:off x="262890" y="294680"/>
          <a:ext cx="368046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Direct via website</a:t>
          </a:r>
          <a:endParaRPr lang="en-US" sz="1800" kern="1200" dirty="0"/>
        </a:p>
      </dsp:txBody>
      <dsp:txXfrm>
        <a:off x="288829" y="320619"/>
        <a:ext cx="3628582" cy="479482"/>
      </dsp:txXfrm>
    </dsp:sp>
    <dsp:sp modelId="{0B81DCB6-55C1-48A8-8423-F57585208918}">
      <dsp:nvSpPr>
        <dsp:cNvPr id="0" name=""/>
        <dsp:cNvSpPr/>
      </dsp:nvSpPr>
      <dsp:spPr>
        <a:xfrm>
          <a:off x="0" y="1376840"/>
          <a:ext cx="52578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4C060-E7D2-4E33-8D83-BAE438DD0E07}">
      <dsp:nvSpPr>
        <dsp:cNvPr id="0" name=""/>
        <dsp:cNvSpPr/>
      </dsp:nvSpPr>
      <dsp:spPr>
        <a:xfrm>
          <a:off x="262890" y="1111160"/>
          <a:ext cx="368046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Direct via mobile application</a:t>
          </a:r>
          <a:endParaRPr lang="en-US" sz="1800" kern="1200" dirty="0"/>
        </a:p>
      </dsp:txBody>
      <dsp:txXfrm>
        <a:off x="288829" y="1137099"/>
        <a:ext cx="3628582" cy="479482"/>
      </dsp:txXfrm>
    </dsp:sp>
    <dsp:sp modelId="{93DBBE16-48E9-4F74-A45E-395F6AB9C99A}">
      <dsp:nvSpPr>
        <dsp:cNvPr id="0" name=""/>
        <dsp:cNvSpPr/>
      </dsp:nvSpPr>
      <dsp:spPr>
        <a:xfrm>
          <a:off x="0" y="2193320"/>
          <a:ext cx="52578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64DA4-0A4F-428C-9493-7F9BEAA7F218}">
      <dsp:nvSpPr>
        <dsp:cNvPr id="0" name=""/>
        <dsp:cNvSpPr/>
      </dsp:nvSpPr>
      <dsp:spPr>
        <a:xfrm>
          <a:off x="262890" y="1927640"/>
          <a:ext cx="368046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Direct via affiliate networks</a:t>
          </a:r>
          <a:endParaRPr lang="en-US" sz="1800" kern="1200" dirty="0"/>
        </a:p>
      </dsp:txBody>
      <dsp:txXfrm>
        <a:off x="288829" y="1953579"/>
        <a:ext cx="3628582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00C71-C28B-4CB1-B119-6AB9F2203F3A}">
      <dsp:nvSpPr>
        <dsp:cNvPr id="0" name=""/>
        <dsp:cNvSpPr/>
      </dsp:nvSpPr>
      <dsp:spPr>
        <a:xfrm>
          <a:off x="0" y="509780"/>
          <a:ext cx="5257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E7AC7-61E7-4CED-BE23-153BF471C1A1}">
      <dsp:nvSpPr>
        <dsp:cNvPr id="0" name=""/>
        <dsp:cNvSpPr/>
      </dsp:nvSpPr>
      <dsp:spPr>
        <a:xfrm>
          <a:off x="262890" y="229340"/>
          <a:ext cx="368046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SEO Strategy</a:t>
          </a:r>
          <a:endParaRPr lang="en-US" sz="1900" kern="1200" dirty="0"/>
        </a:p>
      </dsp:txBody>
      <dsp:txXfrm>
        <a:off x="290270" y="256720"/>
        <a:ext cx="3625700" cy="506120"/>
      </dsp:txXfrm>
    </dsp:sp>
    <dsp:sp modelId="{0B81DCB6-55C1-48A8-8423-F57585208918}">
      <dsp:nvSpPr>
        <dsp:cNvPr id="0" name=""/>
        <dsp:cNvSpPr/>
      </dsp:nvSpPr>
      <dsp:spPr>
        <a:xfrm>
          <a:off x="0" y="1371620"/>
          <a:ext cx="5257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4C060-E7D2-4E33-8D83-BAE438DD0E07}">
      <dsp:nvSpPr>
        <dsp:cNvPr id="0" name=""/>
        <dsp:cNvSpPr/>
      </dsp:nvSpPr>
      <dsp:spPr>
        <a:xfrm>
          <a:off x="262890" y="1091180"/>
          <a:ext cx="368046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Influencer Marketing</a:t>
          </a:r>
          <a:endParaRPr lang="en-US" sz="1900" kern="1200" dirty="0"/>
        </a:p>
      </dsp:txBody>
      <dsp:txXfrm>
        <a:off x="290270" y="1118560"/>
        <a:ext cx="3625700" cy="506120"/>
      </dsp:txXfrm>
    </dsp:sp>
    <dsp:sp modelId="{93DBBE16-48E9-4F74-A45E-395F6AB9C99A}">
      <dsp:nvSpPr>
        <dsp:cNvPr id="0" name=""/>
        <dsp:cNvSpPr/>
      </dsp:nvSpPr>
      <dsp:spPr>
        <a:xfrm>
          <a:off x="0" y="2233460"/>
          <a:ext cx="5257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64DA4-0A4F-428C-9493-7F9BEAA7F218}">
      <dsp:nvSpPr>
        <dsp:cNvPr id="0" name=""/>
        <dsp:cNvSpPr/>
      </dsp:nvSpPr>
      <dsp:spPr>
        <a:xfrm>
          <a:off x="262890" y="1953020"/>
          <a:ext cx="368046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Content Marketing Strategy</a:t>
          </a:r>
          <a:endParaRPr lang="en-US" sz="1900" kern="1200" dirty="0"/>
        </a:p>
      </dsp:txBody>
      <dsp:txXfrm>
        <a:off x="290270" y="1980400"/>
        <a:ext cx="3625700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26540-0EC4-4540-9D85-76FA0EAF4D4B}">
      <dsp:nvSpPr>
        <dsp:cNvPr id="0" name=""/>
        <dsp:cNvSpPr/>
      </dsp:nvSpPr>
      <dsp:spPr>
        <a:xfrm>
          <a:off x="0" y="0"/>
          <a:ext cx="6815471" cy="84657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1">
                <a:shade val="80000"/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Sentiments</a:t>
          </a:r>
          <a:endParaRPr lang="en-US" sz="3900" kern="1200" dirty="0"/>
        </a:p>
      </dsp:txBody>
      <dsp:txXfrm>
        <a:off x="0" y="0"/>
        <a:ext cx="6815471" cy="846573"/>
      </dsp:txXfrm>
    </dsp:sp>
    <dsp:sp modelId="{F0EDB4DC-1F71-49F6-83A2-5F0665A8D6A3}">
      <dsp:nvSpPr>
        <dsp:cNvPr id="0" name=""/>
        <dsp:cNvSpPr/>
      </dsp:nvSpPr>
      <dsp:spPr>
        <a:xfrm>
          <a:off x="3327" y="979904"/>
          <a:ext cx="2269605" cy="21511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Positive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Satisfaction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Appreciation for deals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Quality	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3327" y="979904"/>
        <a:ext cx="2269605" cy="2151132"/>
      </dsp:txXfrm>
    </dsp:sp>
    <dsp:sp modelId="{7E8BFFC8-B109-42E5-9CE2-BEA821B4A609}">
      <dsp:nvSpPr>
        <dsp:cNvPr id="0" name=""/>
        <dsp:cNvSpPr/>
      </dsp:nvSpPr>
      <dsp:spPr>
        <a:xfrm>
          <a:off x="2272932" y="979904"/>
          <a:ext cx="2269605" cy="21511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Neutral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Average Experience	</a:t>
          </a:r>
          <a:endParaRPr lang="en-US" sz="1600" kern="1200" dirty="0"/>
        </a:p>
      </dsp:txBody>
      <dsp:txXfrm>
        <a:off x="2272932" y="979904"/>
        <a:ext cx="2269605" cy="2151132"/>
      </dsp:txXfrm>
    </dsp:sp>
    <dsp:sp modelId="{FF9C8296-4C81-489A-9401-3CB8BBC34D2D}">
      <dsp:nvSpPr>
        <dsp:cNvPr id="0" name=""/>
        <dsp:cNvSpPr/>
      </dsp:nvSpPr>
      <dsp:spPr>
        <a:xfrm>
          <a:off x="4542538" y="979904"/>
          <a:ext cx="2269605" cy="21511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Negative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Customer Service issues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Quality concerns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Delivery Problems</a:t>
          </a:r>
          <a:endParaRPr lang="en-US" sz="1600" kern="1200" dirty="0"/>
        </a:p>
      </dsp:txBody>
      <dsp:txXfrm>
        <a:off x="4542538" y="979904"/>
        <a:ext cx="2269605" cy="2151132"/>
      </dsp:txXfrm>
    </dsp:sp>
    <dsp:sp modelId="{C314F5C9-58DC-44AA-BC01-DBF6BED7E771}">
      <dsp:nvSpPr>
        <dsp:cNvPr id="0" name=""/>
        <dsp:cNvSpPr/>
      </dsp:nvSpPr>
      <dsp:spPr>
        <a:xfrm>
          <a:off x="0" y="3131037"/>
          <a:ext cx="6815471" cy="239014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1">
                <a:shade val="80000"/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DAE5D-0E06-4E3D-A313-7558B8F493D1}">
      <dsp:nvSpPr>
        <dsp:cNvPr id="0" name=""/>
        <dsp:cNvSpPr/>
      </dsp:nvSpPr>
      <dsp:spPr>
        <a:xfrm>
          <a:off x="11633" y="176864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/>
            <a:t>Product Range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Amazon fashion and Flipkart offer extensive variety, while Myntra and Ajio specialize in Fashion</a:t>
          </a:r>
          <a:endParaRPr lang="en-IN" sz="1400" b="1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b="1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11633" y="176864"/>
        <a:ext cx="3869531" cy="2321718"/>
      </dsp:txXfrm>
    </dsp:sp>
    <dsp:sp modelId="{7BD4F6F0-529C-4607-8F2E-7043918B9A62}">
      <dsp:nvSpPr>
        <dsp:cNvPr id="0" name=""/>
        <dsp:cNvSpPr/>
      </dsp:nvSpPr>
      <dsp:spPr>
        <a:xfrm>
          <a:off x="4257476" y="194138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/>
            <a:t>Pricing Strategy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Amazon fashion  and Flipkart use competitive pricing strategies, while Myntra and Ajio target fashion-specific pricing.</a:t>
          </a:r>
          <a:endParaRPr lang="en-US" sz="1400" kern="1200" dirty="0"/>
        </a:p>
      </dsp:txBody>
      <dsp:txXfrm>
        <a:off x="4257476" y="194138"/>
        <a:ext cx="3869531" cy="2321718"/>
      </dsp:txXfrm>
    </dsp:sp>
    <dsp:sp modelId="{30B13D57-800F-4FDE-B6C8-52C1083D9325}">
      <dsp:nvSpPr>
        <dsp:cNvPr id="0" name=""/>
        <dsp:cNvSpPr/>
      </dsp:nvSpPr>
      <dsp:spPr>
        <a:xfrm>
          <a:off x="992" y="2902810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Customer Satisfaction: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All platforms show strengths, with Myntra and Ajio excelling in fashion, and Amazon and Flipkart maintaining high standards across broader categories.</a:t>
          </a:r>
          <a:endParaRPr lang="en-US" sz="1400" kern="1200" dirty="0"/>
        </a:p>
      </dsp:txBody>
      <dsp:txXfrm>
        <a:off x="992" y="2902810"/>
        <a:ext cx="3869531" cy="2321718"/>
      </dsp:txXfrm>
    </dsp:sp>
    <dsp:sp modelId="{24823144-DC6B-44B6-948C-68FCB2630470}">
      <dsp:nvSpPr>
        <dsp:cNvPr id="0" name=""/>
        <dsp:cNvSpPr/>
      </dsp:nvSpPr>
      <dsp:spPr>
        <a:xfrm>
          <a:off x="4257476" y="2902810"/>
          <a:ext cx="3869531" cy="232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Social Media Presence :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All four platforms leverage social media effectively, with Myntra and Ajio focusing on fashion content and Amazon and Flipkart adopting broader engagement strategies.</a:t>
          </a:r>
          <a:endParaRPr lang="en-US" sz="1400" kern="1200" dirty="0"/>
        </a:p>
      </dsp:txBody>
      <dsp:txXfrm>
        <a:off x="4257476" y="2902810"/>
        <a:ext cx="3869531" cy="232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D9E35-E4EE-48EA-8985-E36CFE089B95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583DD-FC4E-4DB6-B8F6-9B7202511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0761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59D1688-D848-4DD3-A20F-F7FA3B29D110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93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5489-3FE8-4684-B586-9DB2CE7EDE2C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6987" y="6355844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5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352690E-DC89-4CE5-B102-DC37F3FC4B23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42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89C6-7834-4F32-A408-A4108B9819C7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8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4185-E1C4-4A12-B043-DDF5D24B6E79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2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3EE6-FFA4-4BD6-A660-DACEE20CFB8B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6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85CF-463C-42A2-ADAA-9998E6962E5C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6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84C7D-7A92-4B74-85F1-34D003B3A1A4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870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65-9BF4-4EE4-B389-D711E823757C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2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DCF6-1D47-4DD0-A40F-E4C42A00D374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7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675313A-59D2-47F5-AC97-DF40248B0A66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7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2CEA73-092B-42C4-AD6E-0182A7C7DC39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1382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4DAD066-1673-48DE-AB80-784B6550D434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697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28B8-E61F-401C-913C-8D7A86E4E3E7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75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19127-F641-4057-81B9-BEE388CD9F45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8293-2A1B-4F55-AB8A-85232BB7A0EC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815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D07527-865B-4A63-A09D-29C46A62AD09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20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261B-FDD3-4099-9033-2B03E56B0AD9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4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12" Type="http://schemas.microsoft.com/office/2007/relationships/diagramDrawing" Target="../diagrams/drawing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diagramColors" Target="../diagrams/colors3.xml"/><Relationship Id="rId5" Type="http://schemas.openxmlformats.org/officeDocument/2006/relationships/diagramColors" Target="../diagrams/colors2.xml"/><Relationship Id="rId10" Type="http://schemas.openxmlformats.org/officeDocument/2006/relationships/diagramQuickStyle" Target="../diagrams/quickStyle3.xml"/><Relationship Id="rId4" Type="http://schemas.openxmlformats.org/officeDocument/2006/relationships/diagramQuickStyle" Target="../diagrams/quickStyle2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CD8D-E704-46A1-BC3E-9A644A9FF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753" y="821265"/>
            <a:ext cx="6710435" cy="5222117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 smtClean="0"/>
              <a:t>Myntra Analysis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9A740-48C5-4AE5-879B-F567D3D7A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028" y="821265"/>
            <a:ext cx="3265713" cy="5222117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Ramya Raghavan</a:t>
            </a:r>
          </a:p>
          <a:p>
            <a:r>
              <a:rPr lang="en-US" dirty="0" smtClean="0"/>
              <a:t>MB28</a:t>
            </a:r>
          </a:p>
          <a:p>
            <a:r>
              <a:rPr lang="en-US" dirty="0" smtClean="0"/>
              <a:t>Capstone Project - II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138" y="821265"/>
            <a:ext cx="2857500" cy="160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64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309" y="356103"/>
            <a:ext cx="9421457" cy="147433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    Company overview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080" y="230233"/>
            <a:ext cx="2857500" cy="1600200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75137" y="1307250"/>
            <a:ext cx="11801629" cy="555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Name: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Myntra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Founded: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2007-2008 (initially for personalized gifts), transitioned to fashion and lifestyle in 2011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Headquarters: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Bengaluru, Karnataka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Acquisition History: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Acquired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 Flipkart in 2014,Became part of the Walmart Group in 2018</a:t>
            </a:r>
          </a:p>
          <a:p>
            <a:pPr marL="0" indent="0">
              <a:buNone/>
            </a:pPr>
            <a:endParaRPr lang="en-US" sz="1400" b="1" dirty="0" smtClean="0"/>
          </a:p>
          <a:p>
            <a:pPr marL="0" indent="0">
              <a:buNone/>
            </a:pPr>
            <a:r>
              <a:rPr lang="en-US" sz="1600" b="1" dirty="0" smtClean="0"/>
              <a:t>Product </a:t>
            </a:r>
            <a:r>
              <a:rPr lang="en-US" sz="1600" b="1" dirty="0"/>
              <a:t>Range:</a:t>
            </a:r>
            <a:r>
              <a:rPr lang="en-US" sz="1600" dirty="0"/>
              <a:t> Myntra offers a diverse array of fashion and lifestyle products including apparel, accessories</a:t>
            </a:r>
            <a:r>
              <a:rPr lang="en-US" sz="1600" dirty="0" smtClean="0"/>
              <a:t>,</a:t>
            </a:r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cosmetics, and footwear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 smtClean="0"/>
              <a:t>Brands</a:t>
            </a:r>
            <a:r>
              <a:rPr lang="en-US" sz="1600" b="1" dirty="0"/>
              <a:t>:</a:t>
            </a:r>
            <a:r>
              <a:rPr lang="en-US" sz="1600" dirty="0"/>
              <a:t> The company carries over 6,000 brands, including major international and domestic names such as Adidas,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Nike</a:t>
            </a:r>
            <a:r>
              <a:rPr lang="en-US" sz="1600" dirty="0"/>
              <a:t>, Puma, H&amp;M, and Levi's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Services: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b="1" dirty="0"/>
              <a:t>Loyalty Program:</a:t>
            </a:r>
            <a:r>
              <a:rPr lang="en-US" sz="1600" dirty="0"/>
              <a:t> Encourages repeat purchases and enhances customer retention.</a:t>
            </a:r>
          </a:p>
          <a:p>
            <a:pPr marL="457200" lvl="1" indent="0">
              <a:buNone/>
            </a:pPr>
            <a:r>
              <a:rPr lang="en-US" sz="1600" b="1" dirty="0"/>
              <a:t>Deals and Offers:</a:t>
            </a:r>
            <a:r>
              <a:rPr lang="en-US" sz="1600" dirty="0"/>
              <a:t> Includes promotions and discounts to attract and retain customers.</a:t>
            </a:r>
          </a:p>
          <a:p>
            <a:pPr marL="457200" lvl="1" indent="0">
              <a:buNone/>
            </a:pPr>
            <a:r>
              <a:rPr lang="en-US" sz="1600" b="1" dirty="0"/>
              <a:t>Customer Support:</a:t>
            </a:r>
            <a:r>
              <a:rPr lang="en-US" sz="1600" dirty="0"/>
              <a:t> 24/7 customer connect team ensures support availability around the clock.</a:t>
            </a:r>
          </a:p>
          <a:p>
            <a:pPr marL="457200" lvl="1" indent="0">
              <a:buNone/>
            </a:pPr>
            <a:r>
              <a:rPr lang="en-US" sz="1600" b="1" dirty="0"/>
              <a:t>Express Delivery Service:</a:t>
            </a:r>
            <a:r>
              <a:rPr lang="en-US" sz="1600" dirty="0"/>
              <a:t> Launched in May 2022, the "M-express tag" offers expedited delivery within 24–48 hours</a:t>
            </a:r>
            <a:r>
              <a:rPr lang="en-US" sz="1600" dirty="0" smtClean="0"/>
              <a:t>,</a:t>
            </a:r>
          </a:p>
          <a:p>
            <a:pPr marL="457200" lvl="1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catering to the growing demand for faster service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3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63" y="754558"/>
            <a:ext cx="11067377" cy="147433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    Market Position and strategy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301" y="722760"/>
            <a:ext cx="2461452" cy="1378413"/>
          </a:xfrm>
          <a:prstGeom prst="rect">
            <a:avLst/>
          </a:prstGeom>
        </p:spPr>
      </p:pic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48269" y="2069375"/>
            <a:ext cx="1163331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Acquisition and Integration: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Myntra's acquisition by Flipkart and subsequent inclusion in the Walmart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expands its reach and resources. Integration with these larger entities provides strategic advantages, including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/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enhanced logistics, technology, and market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Product and Brand Diversity: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 offering products from over 6,000 brands, Myntra positions itself as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comprehensive fashion and lifestyle destination, appealing to a broad consumer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Technological and Logistics Investment: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express delivery service reflects an investment in logistics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technology to improve customer satisfaction and competitiveness in a fast-paced market.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Brand</a:t>
            </a: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Portfolio :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 wide of brands and products attracts diverse customer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Customer Experience :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</a:t>
            </a:r>
            <a:r>
              <a:rPr lang="en-US" sz="1600" dirty="0"/>
              <a:t>he loyalty program and robust customer support contribute to higher customer satisfaction </a:t>
            </a:r>
            <a:endParaRPr lang="en-US" sz="16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smtClean="0"/>
              <a:t>and </a:t>
            </a:r>
            <a:r>
              <a:rPr lang="en-US" sz="1600" dirty="0"/>
              <a:t>retention.</a:t>
            </a:r>
            <a:endParaRPr kumimoji="0" lang="en-US" altLang="en-US" sz="16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Speed of Service : </a:t>
            </a:r>
            <a:r>
              <a:rPr lang="en-US" altLang="en-US" sz="1600" dirty="0" smtClean="0"/>
              <a:t>T</a:t>
            </a:r>
            <a:r>
              <a:rPr lang="en-US" sz="1600" dirty="0"/>
              <a:t>he express delivery initiative caters to the increasing consumer demand for faster delivery times</a:t>
            </a:r>
            <a:r>
              <a:rPr lang="en-US" sz="1600" dirty="0" smtClean="0"/>
              <a:t>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smtClean="0"/>
              <a:t> </a:t>
            </a:r>
            <a:r>
              <a:rPr lang="en-US" sz="1600" dirty="0"/>
              <a:t>positioning Myntra as a leader in operational efficiency within the e-commerce sector.</a:t>
            </a:r>
            <a:endParaRPr kumimoji="0" lang="en-US" altLang="en-US" sz="1600" b="1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11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1440" y="883989"/>
            <a:ext cx="11936110" cy="1293028"/>
          </a:xfrm>
        </p:spPr>
        <p:txBody>
          <a:bodyPr/>
          <a:lstStyle/>
          <a:p>
            <a:pPr algn="l"/>
            <a:r>
              <a:rPr lang="en-US" dirty="0" smtClean="0"/>
              <a:t>	Challenges and opportunities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175" y="603399"/>
            <a:ext cx="2857500" cy="16002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5800" y="2067578"/>
            <a:ext cx="1138645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Intense Competition: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Facing competition from other e-commerce giants and fashion retailers.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Logistics Management: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Ensuring timely delivery while managing a vast product range and customer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Opportunities: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Market Expansion: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Potential for growth in new markets and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Technological Advancements: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Leveraging technology to enhance customer experience and streamline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Personalization: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Further development of personalized services and products could drive additional customer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/>
              <a:t>Overall, Myntra's strategic positioning within the Indian e-commerce market, backed by significant corporate </a:t>
            </a:r>
            <a:endParaRPr lang="en-US" sz="16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smtClean="0"/>
              <a:t>acquisitions </a:t>
            </a:r>
            <a:r>
              <a:rPr lang="en-US" sz="1600" dirty="0"/>
              <a:t>and investments in logistics and customer service, provides a strong foundation for continued </a:t>
            </a:r>
            <a:r>
              <a:rPr lang="en-US" sz="1600" dirty="0" smtClean="0"/>
              <a:t>growth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smtClean="0"/>
              <a:t> </a:t>
            </a:r>
            <a:r>
              <a:rPr lang="en-US" sz="1600" dirty="0"/>
              <a:t>and competitive advantage.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6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243" y="679367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STP Analysis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237" y="372195"/>
            <a:ext cx="2857500" cy="1600200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02444878"/>
              </p:ext>
            </p:extLst>
          </p:nvPr>
        </p:nvGraphicFramePr>
        <p:xfrm>
          <a:off x="1160131" y="1846876"/>
          <a:ext cx="8128000" cy="477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842" y="883989"/>
            <a:ext cx="10132828" cy="1293028"/>
          </a:xfrm>
        </p:spPr>
        <p:txBody>
          <a:bodyPr/>
          <a:lstStyle/>
          <a:p>
            <a:pPr algn="l"/>
            <a:r>
              <a:rPr lang="en-US" dirty="0" smtClean="0"/>
              <a:t>  Key channels &amp; Strategies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42281"/>
              </p:ext>
            </p:extLst>
          </p:nvPr>
        </p:nvGraphicFramePr>
        <p:xfrm>
          <a:off x="685801" y="2193925"/>
          <a:ext cx="5257800" cy="294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175" y="603399"/>
            <a:ext cx="2857500" cy="1600200"/>
          </a:xfrm>
          <a:prstGeom prst="rect">
            <a:avLst/>
          </a:prstGeom>
        </p:spPr>
      </p:pic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2756093"/>
              </p:ext>
            </p:extLst>
          </p:nvPr>
        </p:nvGraphicFramePr>
        <p:xfrm>
          <a:off x="6292704" y="2177017"/>
          <a:ext cx="5257800" cy="294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2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051" y="901532"/>
            <a:ext cx="9422219" cy="1293028"/>
          </a:xfrm>
        </p:spPr>
        <p:txBody>
          <a:bodyPr/>
          <a:lstStyle/>
          <a:p>
            <a:pPr algn="l"/>
            <a:r>
              <a:rPr lang="en-US" dirty="0" smtClean="0"/>
              <a:t>Social Media Handles and #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175" y="603399"/>
            <a:ext cx="2857500" cy="160020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763492" y="1998788"/>
            <a:ext cx="3705446" cy="2073483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7681743" y="1871199"/>
            <a:ext cx="4403932" cy="2201072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637533" y="4252892"/>
            <a:ext cx="3957364" cy="2426459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7681743" y="4252892"/>
            <a:ext cx="4331836" cy="2594476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594897" y="2620284"/>
            <a:ext cx="3086846" cy="361507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#Myntra,#MyntraFashion,#MyntraStyle,#MyntraBeauty,#MyntraEndOfReasonSale,#MyntraFlashSale,#MyntraBigFashionFestival ,#MyntraEssentials,#MyntraTrendy,#MyntraMoments,#FestiveFashion,#SummerFashion,#FestiveFashion ,#</a:t>
            </a:r>
            <a:r>
              <a:rPr lang="en-IN" sz="1200" dirty="0" err="1"/>
              <a:t>StyleInspo</a:t>
            </a:r>
            <a:r>
              <a:rPr lang="en-IN" sz="1200" dirty="0"/>
              <a:t>,#</a:t>
            </a:r>
            <a:r>
              <a:rPr lang="en-IN" sz="1200" dirty="0" err="1"/>
              <a:t>FashionDeals</a:t>
            </a:r>
            <a:endParaRPr lang="en-IN" sz="1200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61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112" y="125248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Social Media Reviews </a:t>
            </a:r>
            <a:endParaRPr lang="en-IN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-28338"/>
            <a:ext cx="2857500" cy="1600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88770"/>
              </p:ext>
            </p:extLst>
          </p:nvPr>
        </p:nvGraphicFramePr>
        <p:xfrm>
          <a:off x="223284" y="1418276"/>
          <a:ext cx="1168518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036">
                  <a:extLst>
                    <a:ext uri="{9D8B030D-6E8A-4147-A177-3AD203B41FA5}">
                      <a16:colId xmlns:a16="http://schemas.microsoft.com/office/drawing/2014/main" val="2154805376"/>
                    </a:ext>
                  </a:extLst>
                </a:gridCol>
                <a:gridCol w="3148886">
                  <a:extLst>
                    <a:ext uri="{9D8B030D-6E8A-4147-A177-3AD203B41FA5}">
                      <a16:colId xmlns:a16="http://schemas.microsoft.com/office/drawing/2014/main" val="783032797"/>
                    </a:ext>
                  </a:extLst>
                </a:gridCol>
                <a:gridCol w="2782023">
                  <a:extLst>
                    <a:ext uri="{9D8B030D-6E8A-4147-A177-3AD203B41FA5}">
                      <a16:colId xmlns:a16="http://schemas.microsoft.com/office/drawing/2014/main" val="3567809376"/>
                    </a:ext>
                  </a:extLst>
                </a:gridCol>
                <a:gridCol w="1364685">
                  <a:extLst>
                    <a:ext uri="{9D8B030D-6E8A-4147-A177-3AD203B41FA5}">
                      <a16:colId xmlns:a16="http://schemas.microsoft.com/office/drawing/2014/main" val="888566467"/>
                    </a:ext>
                  </a:extLst>
                </a:gridCol>
                <a:gridCol w="2052552">
                  <a:extLst>
                    <a:ext uri="{9D8B030D-6E8A-4147-A177-3AD203B41FA5}">
                      <a16:colId xmlns:a16="http://schemas.microsoft.com/office/drawing/2014/main" val="1629898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Aspect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Positive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Negative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Neutral Points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Business</a:t>
                      </a:r>
                    </a:p>
                    <a:p>
                      <a:r>
                        <a:rPr lang="en-US" sz="1400" dirty="0" smtClean="0"/>
                        <a:t>Impact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1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Product</a:t>
                      </a:r>
                      <a:r>
                        <a:rPr lang="en-US" sz="800" baseline="0" dirty="0" smtClean="0"/>
                        <a:t> </a:t>
                      </a:r>
                    </a:p>
                    <a:p>
                      <a:r>
                        <a:rPr lang="en-US" sz="800" baseline="0" dirty="0" smtClean="0"/>
                        <a:t>Quality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High-quality materials and craftsmanship.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Fashionable and durable products.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Issues with defects.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Discrepancies between online images and actual products.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Sizing issues.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Enhances customer satisfaction with quality products.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Defects and sizing issues may impact customer trust.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49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Variety and</a:t>
                      </a:r>
                    </a:p>
                    <a:p>
                      <a:r>
                        <a:rPr lang="en-US" sz="800" dirty="0" smtClean="0"/>
                        <a:t>Selection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Extensive </a:t>
                      </a:r>
                      <a:r>
                        <a:rPr lang="en-US" sz="800" dirty="0"/>
                        <a:t>range of products and brands.</a:t>
                      </a:r>
                      <a:br>
                        <a:rPr lang="en-US" sz="800" dirty="0"/>
                      </a:br>
                      <a:r>
                        <a:rPr lang="en-US" sz="800" dirty="0" smtClean="0"/>
                        <a:t>Exclusive </a:t>
                      </a:r>
                      <a:r>
                        <a:rPr lang="en-US" sz="800" dirty="0"/>
                        <a:t>collections and designer collaborations.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Broad selection attracts diverse customer base.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Opportunity:</a:t>
                      </a:r>
                      <a:r>
                        <a:rPr lang="en-US" sz="800" dirty="0" smtClean="0"/>
                        <a:t> Can further expand range to capture more market segments.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339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User</a:t>
                      </a:r>
                    </a:p>
                    <a:p>
                      <a:r>
                        <a:rPr lang="en-US" sz="800" dirty="0" smtClean="0"/>
                        <a:t>Experience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Intuitive website/app design.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Easy navigation and smooth checkout process.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Occasional technical issues.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Some usability challenges.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Mixed feedback on site performance.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Positive user experience drives customer satisfaction.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Technical issues can lead to frustration and affect conversion rates.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8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Customer</a:t>
                      </a:r>
                    </a:p>
                    <a:p>
                      <a:r>
                        <a:rPr lang="en-US" sz="800" dirty="0" smtClean="0"/>
                        <a:t>Service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Responsive and helpful support.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Effective issue resolution.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Slow response times.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 Reports of unhelpful interactions.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Effective service enhances customer loyalty.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Poor service can lead to dissatisfaction and loss of customers.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46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Delivery </a:t>
                      </a:r>
                    </a:p>
                    <a:p>
                      <a:r>
                        <a:rPr lang="en-US" sz="800" dirty="0" smtClean="0"/>
                        <a:t>Experience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Timely deliveries.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Good packaging.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Efficient order tracking.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Frequent delays.</a:t>
                      </a:r>
                    </a:p>
                    <a:p>
                      <a:r>
                        <a:rPr lang="en-US" sz="800" dirty="0" smtClean="0"/>
                        <a:t>Inaccurate delivery times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Shipping costs comments.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Timely delivery and packaging enhance customer experience.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Delivery delays impact customer satisfaction.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2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Pricing and</a:t>
                      </a:r>
                    </a:p>
                    <a:p>
                      <a:r>
                        <a:rPr lang="en-US" sz="800" dirty="0" smtClean="0"/>
                        <a:t>Discounts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Competitive pricing.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Attractive discount offers.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Issues with discount applications.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Perceived lack of value for money.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General opinions on overall value.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Strength:</a:t>
                      </a:r>
                      <a:r>
                        <a:rPr lang="en-US" sz="800" dirty="0" smtClean="0"/>
                        <a:t> Competitive pricing and discounts drive sales.</a:t>
                      </a:r>
                      <a:br>
                        <a:rPr lang="en-US" sz="800" dirty="0" smtClean="0"/>
                      </a:br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Pricing issues may affect customer perception and retention.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332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Return</a:t>
                      </a:r>
                      <a:r>
                        <a:rPr lang="en-US" sz="800" baseline="0" dirty="0" smtClean="0"/>
                        <a:t> and Exchange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Complicated return procedures.</a:t>
                      </a:r>
                      <a:br>
                        <a:rPr lang="en-US" sz="800" dirty="0" smtClean="0"/>
                      </a:br>
                      <a:r>
                        <a:rPr lang="en-US" sz="800" dirty="0" smtClean="0"/>
                        <a:t>Delays in processing returns and refunds.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Weakness:</a:t>
                      </a:r>
                      <a:r>
                        <a:rPr lang="en-US" sz="800" dirty="0" smtClean="0"/>
                        <a:t> Complex return process can deter customers and increase dissatisfaction.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720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Product</a:t>
                      </a:r>
                    </a:p>
                    <a:p>
                      <a:r>
                        <a:rPr lang="en-US" sz="800" dirty="0" smtClean="0"/>
                        <a:t>Availability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 smtClean="0"/>
                        <a:t>N/A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Mixed comments on stock levels.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 smtClean="0"/>
                        <a:t>Opportunity:</a:t>
                      </a:r>
                      <a:r>
                        <a:rPr lang="en-US" sz="800" dirty="0" smtClean="0"/>
                        <a:t> Improve inventory management to address stock availability issues and enhance customer satisfaction.</a:t>
                      </a:r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9097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16" y="981761"/>
            <a:ext cx="11272283" cy="1213283"/>
          </a:xfrm>
        </p:spPr>
        <p:txBody>
          <a:bodyPr/>
          <a:lstStyle/>
          <a:p>
            <a:pPr algn="l"/>
            <a:r>
              <a:rPr lang="en-US" dirty="0" smtClean="0"/>
              <a:t>Common descriptors &amp; Sentiments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074" y="981761"/>
            <a:ext cx="2011325" cy="11263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7442" y="2404403"/>
            <a:ext cx="3200400" cy="3604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Trendy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Fashionable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Stylish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Convenient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Discounts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Exclusive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Innovative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Customer-focused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507227648"/>
              </p:ext>
            </p:extLst>
          </p:nvPr>
        </p:nvGraphicFramePr>
        <p:xfrm>
          <a:off x="4455040" y="2499373"/>
          <a:ext cx="6815471" cy="341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7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6381" y="732475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Myntra sales 2023 during festive season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67" y="1919178"/>
            <a:ext cx="4381405" cy="4024313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134" y="563418"/>
            <a:ext cx="2011325" cy="1126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09414" y="2349795"/>
            <a:ext cx="5188688" cy="35936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Brand Positioning: </a:t>
            </a:r>
            <a:r>
              <a:rPr lang="en-US" sz="1600" dirty="0"/>
              <a:t>Successful sales events contributed to enhanced brand visibility and market positioning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Customer Loyalty: </a:t>
            </a:r>
            <a:endParaRPr lang="en-US" sz="1600" b="1" dirty="0" smtClean="0"/>
          </a:p>
          <a:p>
            <a:r>
              <a:rPr lang="en-US" sz="1600" dirty="0" smtClean="0"/>
              <a:t>Competitive </a:t>
            </a:r>
            <a:r>
              <a:rPr lang="en-US" sz="1600" dirty="0"/>
              <a:t>discounts and festive offers improved customer retention and loyalty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Market Share: </a:t>
            </a:r>
            <a:endParaRPr lang="en-US" sz="1600" b="1" dirty="0" smtClean="0"/>
          </a:p>
          <a:p>
            <a:r>
              <a:rPr lang="en-US" sz="1600" dirty="0" smtClean="0"/>
              <a:t>Sales </a:t>
            </a:r>
            <a:r>
              <a:rPr lang="en-US" sz="1600" dirty="0"/>
              <a:t>events allowed Myntra to expand its market share, especially in categories like ethnic wear, electronics, and global fashion.</a:t>
            </a:r>
          </a:p>
          <a:p>
            <a:pPr algn="ctr"/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8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735" y="770016"/>
            <a:ext cx="8610600" cy="129302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Statistical data from SEMRUSH</a:t>
            </a:r>
            <a:endParaRPr lang="en-IN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39" y="2063044"/>
            <a:ext cx="7103632" cy="3995793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35" y="772661"/>
            <a:ext cx="2011325" cy="11263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79" y="4060940"/>
            <a:ext cx="7666074" cy="24112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43" y="1986832"/>
            <a:ext cx="5432091" cy="194721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9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260" y="387695"/>
            <a:ext cx="9996377" cy="1122907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/>
              <a:t>Emerging fashion trends and </a:t>
            </a:r>
            <a:br>
              <a:rPr lang="en-US" sz="2800" dirty="0" smtClean="0"/>
            </a:br>
            <a:r>
              <a:rPr lang="en-US" sz="2800" dirty="0" smtClean="0"/>
              <a:t>popular styles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219" y="158318"/>
            <a:ext cx="2011325" cy="1126342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168137"/>
              </p:ext>
            </p:extLst>
          </p:nvPr>
        </p:nvGraphicFramePr>
        <p:xfrm>
          <a:off x="318977" y="1375036"/>
          <a:ext cx="11398101" cy="5207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100">
                  <a:extLst>
                    <a:ext uri="{9D8B030D-6E8A-4147-A177-3AD203B41FA5}">
                      <a16:colId xmlns:a16="http://schemas.microsoft.com/office/drawing/2014/main" val="521461278"/>
                    </a:ext>
                  </a:extLst>
                </a:gridCol>
                <a:gridCol w="1358447">
                  <a:extLst>
                    <a:ext uri="{9D8B030D-6E8A-4147-A177-3AD203B41FA5}">
                      <a16:colId xmlns:a16="http://schemas.microsoft.com/office/drawing/2014/main" val="3609324136"/>
                    </a:ext>
                  </a:extLst>
                </a:gridCol>
                <a:gridCol w="1250463">
                  <a:extLst>
                    <a:ext uri="{9D8B030D-6E8A-4147-A177-3AD203B41FA5}">
                      <a16:colId xmlns:a16="http://schemas.microsoft.com/office/drawing/2014/main" val="1246220051"/>
                    </a:ext>
                  </a:extLst>
                </a:gridCol>
                <a:gridCol w="1366218">
                  <a:extLst>
                    <a:ext uri="{9D8B030D-6E8A-4147-A177-3AD203B41FA5}">
                      <a16:colId xmlns:a16="http://schemas.microsoft.com/office/drawing/2014/main" val="473083362"/>
                    </a:ext>
                  </a:extLst>
                </a:gridCol>
                <a:gridCol w="1185552">
                  <a:extLst>
                    <a:ext uri="{9D8B030D-6E8A-4147-A177-3AD203B41FA5}">
                      <a16:colId xmlns:a16="http://schemas.microsoft.com/office/drawing/2014/main" val="2385029581"/>
                    </a:ext>
                  </a:extLst>
                </a:gridCol>
                <a:gridCol w="1175028">
                  <a:extLst>
                    <a:ext uri="{9D8B030D-6E8A-4147-A177-3AD203B41FA5}">
                      <a16:colId xmlns:a16="http://schemas.microsoft.com/office/drawing/2014/main" val="3685235975"/>
                    </a:ext>
                  </a:extLst>
                </a:gridCol>
                <a:gridCol w="1447526">
                  <a:extLst>
                    <a:ext uri="{9D8B030D-6E8A-4147-A177-3AD203B41FA5}">
                      <a16:colId xmlns:a16="http://schemas.microsoft.com/office/drawing/2014/main" val="717973322"/>
                    </a:ext>
                  </a:extLst>
                </a:gridCol>
                <a:gridCol w="1258235">
                  <a:extLst>
                    <a:ext uri="{9D8B030D-6E8A-4147-A177-3AD203B41FA5}">
                      <a16:colId xmlns:a16="http://schemas.microsoft.com/office/drawing/2014/main" val="4096793027"/>
                    </a:ext>
                  </a:extLst>
                </a:gridCol>
                <a:gridCol w="1109532">
                  <a:extLst>
                    <a:ext uri="{9D8B030D-6E8A-4147-A177-3AD203B41FA5}">
                      <a16:colId xmlns:a16="http://schemas.microsoft.com/office/drawing/2014/main" val="268820763"/>
                    </a:ext>
                  </a:extLst>
                </a:gridCol>
              </a:tblGrid>
              <a:tr h="420912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</a:t>
                      </a:r>
                      <a:r>
                        <a:rPr lang="en-IN" sz="1200" b="1" dirty="0" err="1" smtClean="0"/>
                        <a:t>ustainable</a:t>
                      </a:r>
                      <a:r>
                        <a:rPr lang="en-IN" sz="1200" b="1" dirty="0" smtClean="0"/>
                        <a:t> Fashion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Bold Colours and Patterns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Gender Fluidity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Tech-infused fashion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Retro Revival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Tailoring twist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Maximalism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Comfort and Practicality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Cultural Influences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950003"/>
                  </a:ext>
                </a:extLst>
              </a:tr>
              <a:tr h="1372140"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Clothing made from eco-friendly materials and produced using ethical practices.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Bright, eye-catching colors and unique designs are becoming popular.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Clothing designed to be worn by anyone, regardless of gender.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Clothing with integrated technology, like smart fabrics or wearable gadgets.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Styles from past decades, especially the '90s and early 2000s, are making a comeback.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Traditional tailored clothing with modern, unconventional elements.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A trend towards bold, layered outfits with mixed patterns and textures.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Emphasis on comfortable and functional clothing, like oversized sweaters and casual wear.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What</a:t>
                      </a:r>
                      <a:r>
                        <a:rPr lang="en-US" sz="1000" dirty="0" smtClean="0"/>
                        <a:t>: Incorporation of global cultural elements and traditional techniques into modern fashion.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6066"/>
                  </a:ext>
                </a:extLst>
              </a:tr>
              <a:tr h="1066962"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Growing consumer demand for environmentally friendly products and transparency.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Consumers seek to stand out and express their individuality.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Increasing acceptance of diverse gender identities and expressions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Innovation and the growing interest in tech-enhanced lifestyles.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Nostalgia and the cyclical nature of fashion trends.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Desire for a mix of professionalism and casual comfort.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A reaction against minimalism and a push for more expressive, personalized fashion.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Increased focus on daily wear and lifestyle changes.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/>
                        <a:t>Why</a:t>
                      </a:r>
                      <a:r>
                        <a:rPr lang="en-US" sz="1000" dirty="0" smtClean="0"/>
                        <a:t>: Growing appreciation for cultural diversity and authenticity</a:t>
                      </a:r>
                      <a:endParaRPr lang="en-IN" sz="10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01153"/>
                  </a:ext>
                </a:extLst>
              </a:tr>
              <a:tr h="212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Brands can capture market share by adopting green practices and marketing their sustainability efforts.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Retailers can introduce vibrant collections and limited-edition pieces to attract trend-conscious customers.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Companies can expand their market by offering unisex lines and promoting inclusivity.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Fashion brands can differentiate themselves by incorporating technology into their products.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Brands can capitalize on nostalgia by reintroducing classic designs and styles.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Offering innovative tailoring options can appeal to consumers seeking a blend of formal and relaxed styles.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Retailers can attract customers by showcasing eclectic and elaborate designs.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Brands can succeed by offering practical, stylish options for everyday use.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/>
                        <a:t>Opportunity</a:t>
                      </a:r>
                      <a:r>
                        <a:rPr lang="en-US" sz="1000" dirty="0" smtClean="0"/>
                        <a:t>: Companies can enhance their appeal by embracing and celebrating cultural elements in their designs.</a:t>
                      </a:r>
                      <a:endParaRPr lang="en-IN" sz="10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5871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8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107" y="1077454"/>
            <a:ext cx="11272283" cy="1213283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Fashion conversation post and </a:t>
            </a:r>
            <a:br>
              <a:rPr lang="en-US" sz="3600" dirty="0" smtClean="0"/>
            </a:br>
            <a:r>
              <a:rPr lang="en-US" sz="3600" dirty="0" smtClean="0"/>
              <a:t>the impact</a:t>
            </a:r>
            <a:endParaRPr lang="en-IN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420" y="955759"/>
            <a:ext cx="2011325" cy="112634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8464"/>
              </p:ext>
            </p:extLst>
          </p:nvPr>
        </p:nvGraphicFramePr>
        <p:xfrm>
          <a:off x="1963420" y="2195044"/>
          <a:ext cx="8128000" cy="4227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74995747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407107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787671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271751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622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Posttype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Busniess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Impact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Engagement Metrics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Sales impact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Brand Awareness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09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Outfit </a:t>
                      </a:r>
                      <a:r>
                        <a:rPr lang="en-IN" sz="1400" u="none" strike="noStrike" dirty="0" smtClean="0">
                          <a:effectLst/>
                        </a:rPr>
                        <a:t>inspiration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Medium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2747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Fashion week coverage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Medium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98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Brand Collaborations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Very 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Very High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Very High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889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Style Challenges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Medium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223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Trend </a:t>
                      </a:r>
                      <a:r>
                        <a:rPr lang="en-IN" sz="1400" u="none" strike="noStrike" dirty="0" smtClean="0">
                          <a:effectLst/>
                        </a:rPr>
                        <a:t>Forecasts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99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Sustainable Fashion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35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Fashion hacks and tips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Medium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Low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Medium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733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Celebrity Endorsements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Very High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Very High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Very High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Very High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9157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Unboxing and Reviews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Medium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0026405"/>
                  </a:ext>
                </a:extLst>
              </a:tr>
            </a:tbl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9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Competitors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06" y="2193925"/>
            <a:ext cx="8696987" cy="4024313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444" y="457201"/>
            <a:ext cx="2857500" cy="1600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4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663" y="700577"/>
            <a:ext cx="11006470" cy="1293028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 </a:t>
            </a:r>
            <a:r>
              <a:rPr lang="en-US" sz="2400" dirty="0"/>
              <a:t>comparative</a:t>
            </a:r>
            <a:r>
              <a:rPr lang="en-US" sz="2800" dirty="0"/>
              <a:t> table summarizing Myntra, </a:t>
            </a:r>
            <a:r>
              <a:rPr lang="en-US" sz="2800" dirty="0" smtClean="0"/>
              <a:t>Amazon fashion, </a:t>
            </a:r>
            <a:r>
              <a:rPr lang="en-US" sz="2800" dirty="0"/>
              <a:t>Flipkart, and Ajio across key metrics:</a:t>
            </a:r>
            <a:endParaRPr lang="en-IN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223587"/>
              </p:ext>
            </p:extLst>
          </p:nvPr>
        </p:nvGraphicFramePr>
        <p:xfrm>
          <a:off x="1468475" y="1727792"/>
          <a:ext cx="9429897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5369239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8838912"/>
                    </a:ext>
                  </a:extLst>
                </a:gridCol>
                <a:gridCol w="2329711">
                  <a:extLst>
                    <a:ext uri="{9D8B030D-6E8A-4147-A177-3AD203B41FA5}">
                      <a16:colId xmlns:a16="http://schemas.microsoft.com/office/drawing/2014/main" val="434003407"/>
                    </a:ext>
                  </a:extLst>
                </a:gridCol>
                <a:gridCol w="1977656">
                  <a:extLst>
                    <a:ext uri="{9D8B030D-6E8A-4147-A177-3AD203B41FA5}">
                      <a16:colId xmlns:a16="http://schemas.microsoft.com/office/drawing/2014/main" val="527036426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031292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Criteria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Myntra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Amazon</a:t>
                      </a:r>
                      <a:r>
                        <a:rPr lang="en-US" baseline="0" dirty="0" smtClean="0"/>
                        <a:t> fashion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Flipkart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Ajio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456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50" b="1" dirty="0" smtClean="0"/>
                        <a:t>Product Range</a:t>
                      </a:r>
                      <a:endParaRPr lang="en-IN" sz="11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Focus on fashion and lifestyle. Wide range of apparel, footwear, accessories, and beauty products.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Broad range including various fashion categories and brands; integrates with Amazon's overall ecosystem.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Diverse product range including fashion, electronics, home goods, and more.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Focus on fashion and lifestyle with curated collections and exclusive brands.</a:t>
                      </a:r>
                      <a:endParaRPr lang="en-IN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70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50" b="1" dirty="0" smtClean="0"/>
                        <a:t>Pricing Strategy</a:t>
                      </a:r>
                      <a:endParaRPr lang="en-IN" sz="11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Mid-range to premium; frequent sales and discounts.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Competitive pricing across various fashion categories; frequent deals and discounts.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Competitive pricing with a focus on value-for-money; frequent sales events.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Mid-range pricing with significant discounts on fashion items.</a:t>
                      </a:r>
                      <a:endParaRPr lang="en-IN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6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50" b="1" dirty="0" smtClean="0"/>
                        <a:t>Customer Satisfaction</a:t>
                      </a:r>
                      <a:endParaRPr lang="en-IN" sz="11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Generally high for fashion items; issues with delivery times and order accuracy.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High satisfaction due to wide range, reliable delivery, and robust customer service.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Good satisfaction; similar issues with third-party sellers affecting product quality.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Positive feedback for fashion selections and return policies; issues with delivery times.</a:t>
                      </a:r>
                      <a:endParaRPr lang="en-IN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3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50" b="1" dirty="0" smtClean="0"/>
                        <a:t>Social media Presence</a:t>
                      </a:r>
                      <a:endParaRPr lang="en-IN" sz="11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Active on Instagram, Facebook, and Twitter; focuses on fashion trends and influencer collaborations.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Strong presence on Facebook, Twitter, Instagram, and LinkedIn; diverse content.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Active on Facebook, Twitter, Instagram, and YouTube; focuses on promotions and product highlights.</a:t>
                      </a:r>
                      <a:endParaRPr lang="en-IN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 smtClean="0"/>
                        <a:t>Active on Instagram, Facebook, and Twitter; emphasizes fashion trends and exclusive collections.</a:t>
                      </a:r>
                      <a:endParaRPr lang="en-IN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91682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63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683" y="413498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Key  Insights</a:t>
            </a:r>
            <a:endParaRPr lang="en-IN" dirty="0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578084239"/>
              </p:ext>
            </p:extLst>
          </p:nvPr>
        </p:nvGraphicFramePr>
        <p:xfrm>
          <a:off x="1447210" y="129302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819" y="413498"/>
            <a:ext cx="2011325" cy="1126342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82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49703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 </a:t>
            </a:r>
            <a:r>
              <a:rPr lang="en-US" dirty="0" smtClean="0"/>
              <a:t>   Strength and weakness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2731"/>
            <a:ext cx="10820400" cy="4779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Myntra</a:t>
            </a:r>
            <a:r>
              <a:rPr lang="en-IN" sz="1400" b="1" dirty="0" smtClean="0"/>
              <a:t>:</a:t>
            </a: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Strengths:</a:t>
            </a:r>
            <a:r>
              <a:rPr lang="en-IN" sz="1400" dirty="0"/>
              <a:t> Fashion-focused social media content, positive fashion reviews, strong influencer engagement.</a:t>
            </a:r>
          </a:p>
          <a:p>
            <a:pPr marL="0" indent="0">
              <a:buNone/>
            </a:pPr>
            <a:r>
              <a:rPr lang="en-IN" sz="1400" b="1" dirty="0"/>
              <a:t>Weaknesses: </a:t>
            </a:r>
            <a:r>
              <a:rPr lang="en-IN" sz="1400" dirty="0"/>
              <a:t>Limited product range, delivery issues, and pricing concerns.</a:t>
            </a:r>
          </a:p>
          <a:p>
            <a:pPr marL="0" indent="0">
              <a:buNone/>
            </a:pPr>
            <a:endParaRPr lang="en-IN" sz="1400" dirty="0" smtClean="0"/>
          </a:p>
          <a:p>
            <a:pPr marL="0" indent="0">
              <a:buNone/>
            </a:pPr>
            <a:r>
              <a:rPr lang="en-IN" sz="1400" b="1" dirty="0" smtClean="0"/>
              <a:t>Amazon </a:t>
            </a:r>
            <a:r>
              <a:rPr lang="en-IN" sz="1400" b="1" dirty="0"/>
              <a:t>Fashion:</a:t>
            </a:r>
          </a:p>
          <a:p>
            <a:pPr marL="0" indent="0">
              <a:buNone/>
            </a:pPr>
            <a:r>
              <a:rPr lang="en-IN" sz="1400" b="1" dirty="0" smtClean="0"/>
              <a:t>Strengths</a:t>
            </a:r>
            <a:r>
              <a:rPr lang="en-IN" sz="1400" b="1" dirty="0"/>
              <a:t>:</a:t>
            </a:r>
            <a:r>
              <a:rPr lang="en-IN" sz="1400" dirty="0"/>
              <a:t> Broad social media reach, extensive and reliable reviews, wide product variety.</a:t>
            </a:r>
          </a:p>
          <a:p>
            <a:pPr marL="0" indent="0">
              <a:buNone/>
            </a:pPr>
            <a:r>
              <a:rPr lang="en-IN" sz="1400" b="1" dirty="0"/>
              <a:t>Weaknesses:</a:t>
            </a:r>
            <a:r>
              <a:rPr lang="en-IN" sz="1400" dirty="0"/>
              <a:t> Generic content approach, third-party seller variability, and review management challenges.</a:t>
            </a:r>
          </a:p>
          <a:p>
            <a:pPr marL="0" indent="0">
              <a:buNone/>
            </a:pPr>
            <a:endParaRPr lang="en-IN" sz="1400" dirty="0" smtClean="0"/>
          </a:p>
          <a:p>
            <a:pPr marL="0" indent="0">
              <a:buNone/>
            </a:pPr>
            <a:r>
              <a:rPr lang="en-IN" sz="1400" b="1" dirty="0" smtClean="0"/>
              <a:t>Ajio</a:t>
            </a:r>
            <a:r>
              <a:rPr lang="en-IN" sz="1400" b="1" dirty="0"/>
              <a:t>:</a:t>
            </a:r>
          </a:p>
          <a:p>
            <a:pPr marL="0" indent="0">
              <a:buNone/>
            </a:pPr>
            <a:r>
              <a:rPr lang="en-IN" sz="1400" b="1" dirty="0" smtClean="0"/>
              <a:t>Strengths</a:t>
            </a:r>
            <a:r>
              <a:rPr lang="en-IN" sz="1400" b="1" dirty="0"/>
              <a:t>: </a:t>
            </a:r>
            <a:r>
              <a:rPr lang="en-IN" sz="1400" dirty="0"/>
              <a:t>Trendy and fashion-focused social media, positive fashion feedback, exclusive collections.</a:t>
            </a:r>
          </a:p>
          <a:p>
            <a:pPr marL="0" indent="0">
              <a:buNone/>
            </a:pPr>
            <a:r>
              <a:rPr lang="en-IN" sz="1400" b="1" dirty="0"/>
              <a:t>Weaknesses:</a:t>
            </a:r>
            <a:r>
              <a:rPr lang="en-IN" sz="1400" dirty="0"/>
              <a:t> Limited social media reach, occasional delivery issues, and order accuracy concerns.</a:t>
            </a:r>
          </a:p>
          <a:p>
            <a:pPr marL="0" indent="0">
              <a:buNone/>
            </a:pPr>
            <a:endParaRPr lang="en-IN" sz="1400" dirty="0" smtClean="0"/>
          </a:p>
          <a:p>
            <a:pPr marL="0" indent="0">
              <a:buNone/>
            </a:pPr>
            <a:r>
              <a:rPr lang="en-IN" sz="1400" b="1" dirty="0" smtClean="0"/>
              <a:t>Flipkart</a:t>
            </a:r>
            <a:r>
              <a:rPr lang="en-IN" sz="1400" b="1" dirty="0"/>
              <a:t>:</a:t>
            </a:r>
          </a:p>
          <a:p>
            <a:pPr marL="0" indent="0">
              <a:buNone/>
            </a:pPr>
            <a:r>
              <a:rPr lang="en-IN" sz="1400" b="1" dirty="0" smtClean="0"/>
              <a:t>Strengths</a:t>
            </a:r>
            <a:r>
              <a:rPr lang="en-IN" sz="1400" b="1" dirty="0"/>
              <a:t>:</a:t>
            </a:r>
            <a:r>
              <a:rPr lang="en-IN" sz="1400" dirty="0"/>
              <a:t> Broad social media presence, effective promotions, good service infrastructure.</a:t>
            </a:r>
          </a:p>
          <a:p>
            <a:pPr marL="0" indent="0">
              <a:buNone/>
            </a:pPr>
            <a:r>
              <a:rPr lang="en-IN" sz="1400" b="1" dirty="0"/>
              <a:t>Weaknesses:</a:t>
            </a:r>
            <a:r>
              <a:rPr lang="en-IN" sz="1400" dirty="0"/>
              <a:t> Diluted fashion focus, inconsistent engagement, and third-party seller issues.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75" y="433046"/>
            <a:ext cx="2011325" cy="11263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Myntra’s competitiveness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Myntra’s Competitive Advantages: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Fashion Expertise:</a:t>
            </a:r>
            <a:r>
              <a:rPr lang="en-US" dirty="0"/>
              <a:t> Specializes in fashion with a curated selection and deep industry knowledge.</a:t>
            </a:r>
          </a:p>
          <a:p>
            <a:pPr marL="0" indent="0">
              <a:buNone/>
            </a:pPr>
            <a:r>
              <a:rPr lang="en-US" b="1" dirty="0"/>
              <a:t>Exclusive Collections: </a:t>
            </a:r>
            <a:r>
              <a:rPr lang="en-US" dirty="0"/>
              <a:t>Offers unique and exclusive fashion items through strong brand partnerships.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Myntra’s </a:t>
            </a:r>
            <a:r>
              <a:rPr lang="en-US" b="1" dirty="0"/>
              <a:t>Competitive Disadvantages: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Limited Product Range:</a:t>
            </a:r>
            <a:r>
              <a:rPr lang="en-US" dirty="0"/>
              <a:t> Focuses solely on fashion, lacking the broader product diversity of Amazon Fashion and Flipkart.</a:t>
            </a:r>
          </a:p>
          <a:p>
            <a:pPr marL="0" indent="0">
              <a:buNone/>
            </a:pPr>
            <a:r>
              <a:rPr lang="en-US" b="1" dirty="0"/>
              <a:t>Pricing and Promotions: </a:t>
            </a:r>
            <a:r>
              <a:rPr lang="en-US" dirty="0"/>
              <a:t>Less competitive pricing compared to Flipkart, and limited integration advantages compared to Amazon’s ecosystem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insights outline Myntra's strategic positioning and competitive landscape, highlighting areas where it excels and identifying challenges relative to Amazon Fashion, Flipkart, and Ajio.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2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360" y="764373"/>
            <a:ext cx="2011325" cy="11263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144" y="626149"/>
            <a:ext cx="9900684" cy="1293028"/>
          </a:xfrm>
        </p:spPr>
        <p:txBody>
          <a:bodyPr/>
          <a:lstStyle/>
          <a:p>
            <a:pPr algn="l"/>
            <a:r>
              <a:rPr lang="en-US" dirty="0" smtClean="0"/>
              <a:t>  Strategic </a:t>
            </a:r>
            <a:r>
              <a:rPr lang="en-US" sz="3600" dirty="0" smtClean="0"/>
              <a:t>recommendations</a:t>
            </a:r>
            <a:endParaRPr lang="en-IN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75" y="709492"/>
            <a:ext cx="2011325" cy="1126342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44297" y="1441850"/>
            <a:ext cx="1177277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Customer Satisfaction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Leverage data to enhance customer service, optimize delivery logistics, personalize shopping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experiences, and improve return policies.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Increases customer satisfaction and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Product Offerings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Conduct market research, expand product categories, ensure quality control, promote sustainability,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leverage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Broadens product range, meets emerging trends, and improves product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Marketing Strategies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Use data-driven insights, strengthen digital and social media marketing, implement Omni channel strategies,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develop loyalty programs, and optimize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Enhances brand visibility, engages customers, and drives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By adopting these strategies, Myntra can effectively improve customer satisfaction, expand its product offerings,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 refine its marketing strategies, leading to stronger market positioning and business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growth.</a:t>
            </a: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1600" b="1" dirty="0"/>
              <a:t>Myntra can make </a:t>
            </a:r>
            <a:endParaRPr lang="en-US" sz="1600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 smtClean="0"/>
              <a:t>informed </a:t>
            </a:r>
            <a:r>
              <a:rPr lang="en-US" sz="1600" b="1" dirty="0"/>
              <a:t>decisions to enhance its sales and revenue, optimize operational efficiencies, and better meet customer </a:t>
            </a:r>
            <a:endParaRPr lang="en-US" sz="1600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 smtClean="0"/>
              <a:t>needs</a:t>
            </a:r>
            <a:r>
              <a:rPr lang="en-US" sz="1600" b="1" dirty="0"/>
              <a:t>.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875" y="624431"/>
            <a:ext cx="2011325" cy="1126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3051" y="2849526"/>
            <a:ext cx="4912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Thank you</a:t>
            </a:r>
            <a:endParaRPr lang="en-IN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07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BEB954-4024-4CCF-A9D6-4C00FDC028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96CC85-5758-41C0-8EFD-737AFB691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10EE66-8707-456F-8F2E-091D581CB030}">
  <ds:schemaRefs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2302</Words>
  <Application>Microsoft Office PowerPoint</Application>
  <PresentationFormat>Widescreen</PresentationFormat>
  <Paragraphs>353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Century Gothic</vt:lpstr>
      <vt:lpstr>Vapor Trail</vt:lpstr>
      <vt:lpstr>Myntra Analysis</vt:lpstr>
      <vt:lpstr>    Company overview</vt:lpstr>
      <vt:lpstr>    Market Position and strategy</vt:lpstr>
      <vt:lpstr> Challenges and opportunities</vt:lpstr>
      <vt:lpstr>STP Analysis</vt:lpstr>
      <vt:lpstr>  Key channels &amp; Strategies</vt:lpstr>
      <vt:lpstr>Social Media Handles and #</vt:lpstr>
      <vt:lpstr>Social Media Reviews </vt:lpstr>
      <vt:lpstr>Common descriptors &amp; Sentiments</vt:lpstr>
      <vt:lpstr>Myntra sales 2023 during festive season</vt:lpstr>
      <vt:lpstr>Statistical data from SEMRUSH</vt:lpstr>
      <vt:lpstr>Emerging fashion trends and  popular styles</vt:lpstr>
      <vt:lpstr>Fashion conversation post and  the impact</vt:lpstr>
      <vt:lpstr>Competitors</vt:lpstr>
      <vt:lpstr> comparative table summarizing Myntra, Amazon fashion, Flipkart, and Ajio across key metrics:</vt:lpstr>
      <vt:lpstr>Key  Insights</vt:lpstr>
      <vt:lpstr>    Strength and weakness</vt:lpstr>
      <vt:lpstr>Myntra’s competitiveness</vt:lpstr>
      <vt:lpstr>  Strategic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2024-08-26T05:10:38Z</dcterms:created>
  <dcterms:modified xsi:type="dcterms:W3CDTF">2024-08-30T04:56:14Z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